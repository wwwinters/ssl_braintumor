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.xml.rels" ContentType="application/vnd.openxmlformats-package.relationships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FB1F38-29D5-4CBF-93C3-4895CB01FF9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27600" cy="159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67520" cy="486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27600" cy="380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65D1F4-7897-45D6-A296-88D13AD702D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27600" cy="159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67520" cy="4869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icon to add picture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27600" cy="380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44FE3C-4F5D-4733-ABDE-5A702C34BEB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39320" cy="2382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FCDB78-F17D-4254-822C-5F5CE05FF79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13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8120" cy="397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0920" cy="132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0920" cy="434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1014AB-3FF9-4F87-A669-D41B85C2EC0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4400" cy="580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29560" cy="580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D0FF09-645A-452A-986D-2470CD18544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0920" cy="132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0920" cy="434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EE1AA2-65F3-45E6-80C1-22AC51C7FFC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0920" cy="284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0920" cy="149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4A5EC9-3235-4A22-9D0F-488DDF453DB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0920" cy="132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6800" cy="434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6800" cy="434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7C8D9E-7083-4029-AC5B-238B45CDC87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0920" cy="132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3040" cy="81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3040" cy="367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8600" cy="81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8600" cy="367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065BC5-6859-4F95-BEE5-47068A5A2EF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0920" cy="132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37ED08-1591-4657-B7F9-B44C1F41460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523880" y="1143000"/>
            <a:ext cx="9139320" cy="228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trike="noStrike" u="none">
                <a:solidFill>
                  <a:schemeClr val="dk1"/>
                </a:solidFill>
                <a:effectLst/>
                <a:uFillTx/>
                <a:latin typeface="Calibri Light"/>
                <a:ea typeface="Calibri Light"/>
              </a:rPr>
              <a:t>Post-Treatment Brain Tumor Segmentation using MONAI SegResNet Model 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1523880" y="4221360"/>
            <a:ext cx="913932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Author: Wiley Winters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Date: 2026-02-25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Class: MSDS 692 – Data Science Practicum 1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Picture 3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160" y="28224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90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  <a:ea typeface="Calibri Light"/>
              </a:rPr>
              <a:t>Introduction and Problem Statement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ketchy lin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14400" y="2057400"/>
            <a:ext cx="1028448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Many studies have been conducted on diagnosing brain tumors using various methods.  Not many have been conducted on post-treatment follow up images.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likelihood of tumor regrowth increases significantly if it is not completely removed; therefore, accurately determining if a tumor has been completely removed is critical for developing the rest of the patient’s treatment plan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study will train a MONAI SegResNet model using datasets from the BraTS (Brain Tumor Segmentation) challenge sponsored by the Center for Biomedical Image Computing and Analytics.  After training the model will be used on a post-treatment dataset to preform segmentation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Picture 1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6960" y="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19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400" strike="noStrike" u="none">
                <a:solidFill>
                  <a:schemeClr val="dk1"/>
                </a:solidFill>
                <a:effectLst/>
                <a:uFillTx/>
                <a:latin typeface="Calibri Light"/>
                <a:ea typeface="Calibri Light"/>
              </a:rPr>
              <a:t>Background Information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ketchy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85800" y="1829520"/>
            <a:ext cx="10855080" cy="297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In this part of the presentation I will provide background information on the following: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What is segmentation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Examples of segmentation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Example of how segmentation can identify core tumor tissue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Information about the different modalities used in MR images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2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6960" y="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19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400" strike="noStrike" u="none">
                <a:solidFill>
                  <a:schemeClr val="dk1"/>
                </a:solidFill>
                <a:effectLst/>
                <a:uFillTx/>
                <a:latin typeface="Calibri Light"/>
                <a:ea typeface="Calibri Light"/>
              </a:rPr>
              <a:t>What is Segmentation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ketchy lin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685800" y="1829520"/>
            <a:ext cx="1085508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When segmentation is applied to a brain tumor MR Image it identifies the boundaries of the tumor regions within the brain scan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These boundaries are divided into masks and assigned a label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Label 0 – normal brain tissue (non-tumor/background)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Label 1 – necrotic/non-enhancing tumor core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Label 2 – edema (ED)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Label 3 – is not used to avoid confusion with binary encoders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Label 4 – enhancing tumor (ET)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4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6960" y="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19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5400" strike="noStrike" u="none">
                <a:solidFill>
                  <a:schemeClr val="dk1"/>
                </a:solidFill>
                <a:effectLst/>
                <a:uFillTx/>
                <a:latin typeface="Calibri Light"/>
                <a:ea typeface="Calibri Light"/>
              </a:rPr>
              <a:t>What Segmentation Provides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ketchy lin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685800" y="1829520"/>
            <a:ext cx="1085508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Segmentation provides the following: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Location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: Identifies exact location of the brain tumor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Size and Shape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: Measures the tumor’s dimensions and form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Heterogeneity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: Reveals different components within the tumor (e.g. solid tissue, necrotic areas)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Surrounding Tissue Involvement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: Shows how the tumor interacts with adjacent brain structures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Cross-Modality Comparison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: Provides a comprehensive view by comparing different imaging modalities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Picture 5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0" y="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36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Visualization of Brain Tumor Segmentation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ketchy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685800" y="2057400"/>
            <a:ext cx="5257080" cy="388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Raw visualization segmentation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regions are color coded for easy of interpretation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Label 0 (normal) is the largest region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Tumor is identified in blue and yellow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Green is edema (swelling)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" descr=""/>
          <p:cNvPicPr/>
          <p:nvPr/>
        </p:nvPicPr>
        <p:blipFill>
          <a:blip r:embed="rId1"/>
          <a:stretch/>
        </p:blipFill>
        <p:spPr>
          <a:xfrm>
            <a:off x="6172200" y="2039400"/>
            <a:ext cx="4836960" cy="390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Picture 6" descr="A blue and white logo&#10;&#10;Description automatically generated"/>
          <p:cNvPicPr/>
          <p:nvPr/>
        </p:nvPicPr>
        <p:blipFill>
          <a:blip r:embed="rId2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8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0" y="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36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Brain Tumor Segmentation by Label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ketchy lin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"/>
          <p:cNvSpPr/>
          <p:nvPr/>
        </p:nvSpPr>
        <p:spPr>
          <a:xfrm>
            <a:off x="685800" y="2057400"/>
            <a:ext cx="1097100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By separating the labels, it becomes easier to identify the tumor’s core and edema (swelling)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the example below, I have separated out the Labels into their own plots.  This makes it easier to identify the residual brain tumor tissue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red box outlines the residual tumor tissue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 descr=""/>
          <p:cNvPicPr/>
          <p:nvPr/>
        </p:nvPicPr>
        <p:blipFill>
          <a:blip r:embed="rId1"/>
          <a:stretch/>
        </p:blipFill>
        <p:spPr>
          <a:xfrm>
            <a:off x="1418760" y="4343400"/>
            <a:ext cx="8836920" cy="180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Picture 7" descr="A blue and white logo&#10;&#10;Description automatically generated"/>
          <p:cNvPicPr/>
          <p:nvPr/>
        </p:nvPicPr>
        <p:blipFill>
          <a:blip r:embed="rId2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4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2500" lnSpcReduction="9999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MR Imaging Modalities Used in Segmentation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ketchy lin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"/>
          <p:cNvSpPr/>
          <p:nvPr/>
        </p:nvSpPr>
        <p:spPr>
          <a:xfrm>
            <a:off x="685800" y="2057400"/>
            <a:ext cx="10971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MRI segmentation is preformed by comparing the results of different MRI sequences (modalities)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768600" y="3227040"/>
          <a:ext cx="5075280" cy="1733400"/>
        </p:xfrm>
        <a:graphic>
          <a:graphicData uri="http://schemas.openxmlformats.org/drawingml/2006/table">
            <a:tbl>
              <a:tblPr/>
              <a:tblGrid>
                <a:gridCol w="2553840"/>
                <a:gridCol w="7711560"/>
              </a:tblGrid>
              <a:tr h="3200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SEQUENCE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KEY USE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T1 (Native)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Reveals the structure and composition of various tissue types in the brain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T1ce post-contrast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Similar to T1, but enhanced with a contrast agent which improves the visibility of abnormalities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This modality highlights the fluid content within brain tissue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FLAIR (T2F)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Suppresses the fluid signals, making it easier to identify lesions (tumors) that may not be visible on T1 or T2 images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9" name="Picture 8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0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32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36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Examples of the Modalities and Mask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ketchy lin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"/>
          <p:cNvSpPr/>
          <p:nvPr/>
        </p:nvSpPr>
        <p:spPr>
          <a:xfrm>
            <a:off x="685800" y="2057400"/>
            <a:ext cx="10971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These images are of the same patient post-treatment for a </a:t>
            </a:r>
            <a:r>
              <a:rPr b="0" i="1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glioma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brain tumor. All of the modalities are summarized in the Mask (segmentation)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371520" y="3200400"/>
            <a:ext cx="11286720" cy="228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Picture 9" descr="A blue and white logo&#10;&#10;Description automatically generated"/>
          <p:cNvPicPr/>
          <p:nvPr/>
        </p:nvPicPr>
        <p:blipFill>
          <a:blip r:embed="rId2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6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68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Dataset and Data Preparation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ketchy lin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9" name="Picture 10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PlaceHolder 11"/>
          <p:cNvSpPr/>
          <p:nvPr/>
        </p:nvSpPr>
        <p:spPr>
          <a:xfrm>
            <a:off x="6401520" y="1828800"/>
            <a:ext cx="5257080" cy="43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MRI NifTI volumes used for training are from the BraTS2021 dataset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dataset is comprised of 4 structural modalities (T1, T1c, T2, and T2-FLAIR)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BraTS dataset is a collection of MRI scans of 1,480 patients acquired from multiple institutions under standard clinical conditions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Dataset are already prepared for training or inference.  Images are loaded from the NifTI files and divided into four channels (i.e. T1, T1c, T2, T2F)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" descr=""/>
          <p:cNvPicPr/>
          <p:nvPr/>
        </p:nvPicPr>
        <p:blipFill>
          <a:blip r:embed="rId2"/>
          <a:stretch/>
        </p:blipFill>
        <p:spPr>
          <a:xfrm>
            <a:off x="549360" y="2017440"/>
            <a:ext cx="5622480" cy="415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68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Model Selection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ketchy lin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" name="Picture 11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4"/>
          <p:cNvSpPr/>
          <p:nvPr/>
        </p:nvSpPr>
        <p:spPr>
          <a:xfrm>
            <a:off x="457920" y="1970640"/>
            <a:ext cx="5485680" cy="43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5000" lnSpcReduction="9999"/>
          </a:bodyPr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Medical Open Network for Artificial Intelligence (MONAI)’s SegResNet model was chosen for the following reasons: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It is a residual encoder/decoder CNN designed specifically for 2D/3D medical segmenation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Uses less GPU resources than a transformer-style model making it a good fit for training with consumer grade GPUs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Is a top performer in challenges like BraTS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Is part of the vast MONAI ecosystem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" descr=""/>
          <p:cNvPicPr/>
          <p:nvPr/>
        </p:nvPicPr>
        <p:blipFill>
          <a:blip r:embed="rId2"/>
          <a:stretch/>
        </p:blipFill>
        <p:spPr>
          <a:xfrm>
            <a:off x="6400800" y="2971800"/>
            <a:ext cx="5257800" cy="1949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8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68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Challenges Encountered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ketchy lin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1" name="Picture 12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22" name=""/>
          <p:cNvGraphicFramePr/>
          <p:nvPr/>
        </p:nvGraphicFramePr>
        <p:xfrm>
          <a:off x="658800" y="2328480"/>
          <a:ext cx="11107080" cy="1384920"/>
        </p:xfrm>
        <a:graphic>
          <a:graphicData uri="http://schemas.openxmlformats.org/drawingml/2006/table">
            <a:tbl>
              <a:tblPr/>
              <a:tblGrid>
                <a:gridCol w="5553000"/>
                <a:gridCol w="555408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Challenges</a:t>
                      </a:r>
                      <a:endParaRPr b="1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Solutions</a:t>
                      </a:r>
                      <a:endParaRPr b="1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Attempted to use a pre-trained binary CNN classifier to classify post-treatment brain tumor MRI images.  Classifier could not determine if resection cavity was a tumor or not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Further research indicated this approach was not feasible and many researchers used a encoder/decoder method to preform brain tumor segmentation.  Modified my study to follow this path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Using </a:t>
                      </a:r>
                      <a:r>
                        <a:rPr b="1" i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cutting-edge </a:t>
                      </a: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models proved to be problematic.  Use of pre-trained models from MONAI often broke existing Python Packages  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Worked around broken packages by paying extra attention to versions.  Used different packages when possible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File path inconsistencies between datasets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Created custom data loaders for each dataset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680"/>
            <a:ext cx="12184200" cy="685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72400" y="238680"/>
            <a:ext cx="1101384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Future Steps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ketchy lin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2400" y="1681560"/>
            <a:ext cx="10968120" cy="13680"/>
          </a:xfrm>
          <a:custGeom>
            <a:avLst/>
            <a:gdLst>
              <a:gd name="textAreaLeft" fmla="*/ 0 w 10968120"/>
              <a:gd name="textAreaRight" fmla="*/ 10972800 w 10968120"/>
              <a:gd name="textAreaTop" fmla="*/ 0 h 13680"/>
              <a:gd name="textAreaBottom" fmla="*/ 18360 h 13680"/>
              <a:gd name="GluePoint1X" fmla="*/ 0 w 10972800"/>
              <a:gd name="GluePoint1Y" fmla="*/ 0 h 18288"/>
              <a:gd name="GluePoint2X" fmla="*/ 356616 w 10972800"/>
              <a:gd name="GluePoint2Y" fmla="*/ 0 h 18288"/>
              <a:gd name="GluePoint3X" fmla="*/ 1042416 w 10972800"/>
              <a:gd name="GluePoint3Y" fmla="*/ 0 h 18288"/>
              <a:gd name="GluePoint4X" fmla="*/ 1947672 w 10972800"/>
              <a:gd name="GluePoint4Y" fmla="*/ 0 h 18288"/>
              <a:gd name="GluePoint5X" fmla="*/ 2633472 w 10972800"/>
              <a:gd name="GluePoint5Y" fmla="*/ 0 h 18288"/>
              <a:gd name="GluePoint6X" fmla="*/ 2990088 w 10972800"/>
              <a:gd name="GluePoint6Y" fmla="*/ 0 h 18288"/>
              <a:gd name="GluePoint7X" fmla="*/ 3456432 w 10972800"/>
              <a:gd name="GluePoint7Y" fmla="*/ 0 h 18288"/>
              <a:gd name="GluePoint8X" fmla="*/ 4361688 w 10972800"/>
              <a:gd name="GluePoint8Y" fmla="*/ 0 h 18288"/>
              <a:gd name="GluePoint9X" fmla="*/ 5266944 w 10972800"/>
              <a:gd name="GluePoint9Y" fmla="*/ 0 h 18288"/>
              <a:gd name="GluePoint10X" fmla="*/ 6172200 w 10972800"/>
              <a:gd name="GluePoint10Y" fmla="*/ 0 h 18288"/>
              <a:gd name="GluePoint11X" fmla="*/ 6528816 w 10972800"/>
              <a:gd name="GluePoint11Y" fmla="*/ 0 h 18288"/>
              <a:gd name="GluePoint12X" fmla="*/ 7214616 w 10972800"/>
              <a:gd name="GluePoint12Y" fmla="*/ 0 h 18288"/>
              <a:gd name="GluePoint13X" fmla="*/ 7790688 w 10972800"/>
              <a:gd name="GluePoint13Y" fmla="*/ 0 h 18288"/>
              <a:gd name="GluePoint14X" fmla="*/ 8147304 w 10972800"/>
              <a:gd name="GluePoint14Y" fmla="*/ 0 h 18288"/>
              <a:gd name="GluePoint15X" fmla="*/ 9052560 w 10972800"/>
              <a:gd name="GluePoint15Y" fmla="*/ 0 h 18288"/>
              <a:gd name="GluePoint16X" fmla="*/ 9409176 w 10972800"/>
              <a:gd name="GluePoint16Y" fmla="*/ 0 h 18288"/>
              <a:gd name="GluePoint17X" fmla="*/ 9765792 w 10972800"/>
              <a:gd name="GluePoint17Y" fmla="*/ 0 h 18288"/>
              <a:gd name="GluePoint18X" fmla="*/ 10341864 w 10972800"/>
              <a:gd name="GluePoint18Y" fmla="*/ 0 h 18288"/>
              <a:gd name="GluePoint19X" fmla="*/ 10972800 w 10972800"/>
              <a:gd name="GluePoint19Y" fmla="*/ 0 h 18288"/>
              <a:gd name="GluePoint20X" fmla="*/ 10972800 w 10972800"/>
              <a:gd name="GluePoint20Y" fmla="*/ 18288 h 18288"/>
              <a:gd name="GluePoint21X" fmla="*/ 10177272 w 10972800"/>
              <a:gd name="GluePoint21Y" fmla="*/ 18288 h 18288"/>
              <a:gd name="GluePoint22X" fmla="*/ 9820656 w 10972800"/>
              <a:gd name="GluePoint22Y" fmla="*/ 18288 h 18288"/>
              <a:gd name="GluePoint23X" fmla="*/ 9464040 w 10972800"/>
              <a:gd name="GluePoint23Y" fmla="*/ 18288 h 18288"/>
              <a:gd name="GluePoint24X" fmla="*/ 8778240 w 10972800"/>
              <a:gd name="GluePoint24Y" fmla="*/ 18288 h 18288"/>
              <a:gd name="GluePoint25X" fmla="*/ 8421624 w 10972800"/>
              <a:gd name="GluePoint25Y" fmla="*/ 18288 h 18288"/>
              <a:gd name="GluePoint26X" fmla="*/ 7735824 w 10972800"/>
              <a:gd name="GluePoint26Y" fmla="*/ 18288 h 18288"/>
              <a:gd name="GluePoint27X" fmla="*/ 6940296 w 10972800"/>
              <a:gd name="GluePoint27Y" fmla="*/ 18288 h 18288"/>
              <a:gd name="GluePoint28X" fmla="*/ 6254496 w 10972800"/>
              <a:gd name="GluePoint28Y" fmla="*/ 18288 h 18288"/>
              <a:gd name="GluePoint29X" fmla="*/ 5458968 w 10972800"/>
              <a:gd name="GluePoint29Y" fmla="*/ 18288 h 18288"/>
              <a:gd name="GluePoint30X" fmla="*/ 4663440 w 10972800"/>
              <a:gd name="GluePoint30Y" fmla="*/ 18288 h 18288"/>
              <a:gd name="GluePoint31X" fmla="*/ 4306824 w 10972800"/>
              <a:gd name="GluePoint31Y" fmla="*/ 18288 h 18288"/>
              <a:gd name="GluePoint32X" fmla="*/ 3840480 w 10972800"/>
              <a:gd name="GluePoint32Y" fmla="*/ 18288 h 18288"/>
              <a:gd name="GluePoint33X" fmla="*/ 3264408 w 10972800"/>
              <a:gd name="GluePoint33Y" fmla="*/ 18288 h 18288"/>
              <a:gd name="GluePoint34X" fmla="*/ 2578608 w 10972800"/>
              <a:gd name="GluePoint34Y" fmla="*/ 18288 h 18288"/>
              <a:gd name="GluePoint35X" fmla="*/ 1673352 w 10972800"/>
              <a:gd name="GluePoint35Y" fmla="*/ 18288 h 18288"/>
              <a:gd name="GluePoint36X" fmla="*/ 877824 w 10972800"/>
              <a:gd name="GluePoint36Y" fmla="*/ 18288 h 18288"/>
              <a:gd name="GluePoint37X" fmla="*/ 0 w 10972800"/>
              <a:gd name="GluePoint37Y" fmla="*/ 18288 h 18288"/>
              <a:gd name="GluePoint38X" fmla="*/ 0 w 10972800"/>
              <a:gd name="GluePoint38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</a:cxnLst>
            <a:rect l="textAreaLeft" t="textAreaTop" r="textAreaRight" b="textAreaBottom"/>
            <a:pathLst>
              <a:path fill="none" w="10972800" h="18288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stroke="0" w="10972800" h="18288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cap="rnd" w="44450">
            <a:solidFill>
              <a:schemeClr val="accent2">
                <a:alpha val="75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6" name="Picture 13" descr="A blue and white logo&#10;&#10;Description automatically generated"/>
          <p:cNvPicPr/>
          <p:nvPr/>
        </p:nvPicPr>
        <p:blipFill>
          <a:blip r:embed="rId1"/>
          <a:stretch/>
        </p:blipFill>
        <p:spPr>
          <a:xfrm>
            <a:off x="10199520" y="282600"/>
            <a:ext cx="1795680" cy="5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1600200" y="2743200"/>
            <a:ext cx="8686800" cy="2057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Continue work on training a MONAI SegResNet model on BraTS dataset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After successfully training the model, perform inference on post-treatment Glioma brain tumor dataset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Document findings and complete research paper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1555</TotalTime>
  <Application>LibreOffice/25.8.3.2$Linux_X86_64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2024-01-19T13:58:44Z</dcterms:created>
  <dc:creator/>
  <dc:description/>
  <dc:language>en-US</dc:language>
  <cp:lastModifiedBy/>
  <dcterms:modified xsi:type="dcterms:W3CDTF">2026-02-25T15:46:38Z</dcterms:modified>
  <cp:revision>307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8</vt:i4>
  </property>
</Properties>
</file>