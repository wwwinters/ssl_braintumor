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1069BCA-AF24-478E-9A51-747E4894351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7600" cy="159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7520" cy="486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7600" cy="380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558D5AC-6D64-4899-9C44-B801117D21A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7600" cy="159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7520" cy="486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icon to add picture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7600" cy="380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B3346A-F516-4D71-823D-DA99FB4BC00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9320" cy="23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0F3FAB-5D42-4785-9B80-D24840F44FA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920" cy="132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0920" cy="434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DE22D7-6761-450D-B7B1-D60207912FD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4400" cy="580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29560" cy="580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5FD830-5BEC-4F36-98B2-EB7D1E97BBF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920" cy="132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0920" cy="434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3A2946-3A2B-4915-9D88-109BF31FE4D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0920" cy="28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0920" cy="149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47EDA5-67ED-4E29-9BB9-62F53708757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920" cy="132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6800" cy="434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6800" cy="434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EBE0FD-5287-4C38-BC8F-3A3489F9E75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0920" cy="132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3040" cy="81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3040" cy="367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78600" cy="81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78600" cy="367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50DBB2B-5960-4684-AA08-85E76DCA875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920" cy="132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D8DE41-8C90-4BFA-8E53-1255497995D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43000"/>
            <a:ext cx="9139320" cy="228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Post-Treatment Brain Tumor Segmentation using PyTorch U-Net Model 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4221360"/>
            <a:ext cx="9139320" cy="14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Author: Wiley Winters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Date: 2026-02-25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Class: MSDS 692 – Data Science Practicum 1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Picture 3" descr="A blue and white logo&#10;&#10;Description automatically generated"/>
          <p:cNvPicPr/>
          <p:nvPr/>
        </p:nvPicPr>
        <p:blipFill>
          <a:blip r:embed="rId1"/>
          <a:stretch/>
        </p:blipFill>
        <p:spPr>
          <a:xfrm>
            <a:off x="10199160" y="282240"/>
            <a:ext cx="1795680" cy="595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72400" y="238680"/>
            <a:ext cx="11013840" cy="90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Introduction and Problem Statement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ketchy lin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68120" cy="13680"/>
          </a:xfrm>
          <a:custGeom>
            <a:avLst/>
            <a:gdLst>
              <a:gd name="textAreaLeft" fmla="*/ 0 w 10968120"/>
              <a:gd name="textAreaRight" fmla="*/ 10972800 w 10968120"/>
              <a:gd name="textAreaTop" fmla="*/ 0 h 13680"/>
              <a:gd name="textAreaBottom" fmla="*/ 18360 h 13680"/>
              <a:gd name="GluePoint1X" fmla="*/ 0 w 10972800"/>
              <a:gd name="GluePoint1Y" fmla="*/ 0 h 18288"/>
              <a:gd name="GluePoint2X" fmla="*/ 356616 w 10972800"/>
              <a:gd name="GluePoint2Y" fmla="*/ 0 h 18288"/>
              <a:gd name="GluePoint3X" fmla="*/ 1042416 w 10972800"/>
              <a:gd name="GluePoint3Y" fmla="*/ 0 h 18288"/>
              <a:gd name="GluePoint4X" fmla="*/ 1947672 w 10972800"/>
              <a:gd name="GluePoint4Y" fmla="*/ 0 h 18288"/>
              <a:gd name="GluePoint5X" fmla="*/ 2633472 w 10972800"/>
              <a:gd name="GluePoint5Y" fmla="*/ 0 h 18288"/>
              <a:gd name="GluePoint6X" fmla="*/ 2990088 w 10972800"/>
              <a:gd name="GluePoint6Y" fmla="*/ 0 h 18288"/>
              <a:gd name="GluePoint7X" fmla="*/ 3456432 w 10972800"/>
              <a:gd name="GluePoint7Y" fmla="*/ 0 h 18288"/>
              <a:gd name="GluePoint8X" fmla="*/ 4361688 w 10972800"/>
              <a:gd name="GluePoint8Y" fmla="*/ 0 h 18288"/>
              <a:gd name="GluePoint9X" fmla="*/ 5266944 w 10972800"/>
              <a:gd name="GluePoint9Y" fmla="*/ 0 h 18288"/>
              <a:gd name="GluePoint10X" fmla="*/ 6172200 w 10972800"/>
              <a:gd name="GluePoint10Y" fmla="*/ 0 h 18288"/>
              <a:gd name="GluePoint11X" fmla="*/ 6528816 w 10972800"/>
              <a:gd name="GluePoint11Y" fmla="*/ 0 h 18288"/>
              <a:gd name="GluePoint12X" fmla="*/ 7214616 w 10972800"/>
              <a:gd name="GluePoint12Y" fmla="*/ 0 h 18288"/>
              <a:gd name="GluePoint13X" fmla="*/ 7790688 w 10972800"/>
              <a:gd name="GluePoint13Y" fmla="*/ 0 h 18288"/>
              <a:gd name="GluePoint14X" fmla="*/ 8147304 w 10972800"/>
              <a:gd name="GluePoint14Y" fmla="*/ 0 h 18288"/>
              <a:gd name="GluePoint15X" fmla="*/ 9052560 w 10972800"/>
              <a:gd name="GluePoint15Y" fmla="*/ 0 h 18288"/>
              <a:gd name="GluePoint16X" fmla="*/ 9409176 w 10972800"/>
              <a:gd name="GluePoint16Y" fmla="*/ 0 h 18288"/>
              <a:gd name="GluePoint17X" fmla="*/ 9765792 w 10972800"/>
              <a:gd name="GluePoint17Y" fmla="*/ 0 h 18288"/>
              <a:gd name="GluePoint18X" fmla="*/ 10341864 w 10972800"/>
              <a:gd name="GluePoint18Y" fmla="*/ 0 h 18288"/>
              <a:gd name="GluePoint19X" fmla="*/ 10972800 w 10972800"/>
              <a:gd name="GluePoint19Y" fmla="*/ 0 h 18288"/>
              <a:gd name="GluePoint20X" fmla="*/ 10972800 w 10972800"/>
              <a:gd name="GluePoint20Y" fmla="*/ 18288 h 18288"/>
              <a:gd name="GluePoint21X" fmla="*/ 10177272 w 10972800"/>
              <a:gd name="GluePoint21Y" fmla="*/ 18288 h 18288"/>
              <a:gd name="GluePoint22X" fmla="*/ 9820656 w 10972800"/>
              <a:gd name="GluePoint22Y" fmla="*/ 18288 h 18288"/>
              <a:gd name="GluePoint23X" fmla="*/ 9464040 w 10972800"/>
              <a:gd name="GluePoint23Y" fmla="*/ 18288 h 18288"/>
              <a:gd name="GluePoint24X" fmla="*/ 8778240 w 10972800"/>
              <a:gd name="GluePoint24Y" fmla="*/ 18288 h 18288"/>
              <a:gd name="GluePoint25X" fmla="*/ 8421624 w 10972800"/>
              <a:gd name="GluePoint25Y" fmla="*/ 18288 h 18288"/>
              <a:gd name="GluePoint26X" fmla="*/ 7735824 w 10972800"/>
              <a:gd name="GluePoint26Y" fmla="*/ 18288 h 18288"/>
              <a:gd name="GluePoint27X" fmla="*/ 6940296 w 10972800"/>
              <a:gd name="GluePoint27Y" fmla="*/ 18288 h 18288"/>
              <a:gd name="GluePoint28X" fmla="*/ 6254496 w 10972800"/>
              <a:gd name="GluePoint28Y" fmla="*/ 18288 h 18288"/>
              <a:gd name="GluePoint29X" fmla="*/ 5458968 w 10972800"/>
              <a:gd name="GluePoint29Y" fmla="*/ 18288 h 18288"/>
              <a:gd name="GluePoint30X" fmla="*/ 4663440 w 10972800"/>
              <a:gd name="GluePoint30Y" fmla="*/ 18288 h 18288"/>
              <a:gd name="GluePoint31X" fmla="*/ 4306824 w 10972800"/>
              <a:gd name="GluePoint31Y" fmla="*/ 18288 h 18288"/>
              <a:gd name="GluePoint32X" fmla="*/ 3840480 w 10972800"/>
              <a:gd name="GluePoint32Y" fmla="*/ 18288 h 18288"/>
              <a:gd name="GluePoint33X" fmla="*/ 3264408 w 10972800"/>
              <a:gd name="GluePoint33Y" fmla="*/ 18288 h 18288"/>
              <a:gd name="GluePoint34X" fmla="*/ 2578608 w 10972800"/>
              <a:gd name="GluePoint34Y" fmla="*/ 18288 h 18288"/>
              <a:gd name="GluePoint35X" fmla="*/ 1673352 w 10972800"/>
              <a:gd name="GluePoint35Y" fmla="*/ 18288 h 18288"/>
              <a:gd name="GluePoint36X" fmla="*/ 877824 w 10972800"/>
              <a:gd name="GluePoint36Y" fmla="*/ 18288 h 18288"/>
              <a:gd name="GluePoint37X" fmla="*/ 0 w 10972800"/>
              <a:gd name="GluePoint37Y" fmla="*/ 18288 h 18288"/>
              <a:gd name="GluePoint38X" fmla="*/ 0 w 10972800"/>
              <a:gd name="GluePoint38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</a:cxnLst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"/>
          <p:cNvSpPr/>
          <p:nvPr/>
        </p:nvSpPr>
        <p:spPr>
          <a:xfrm>
            <a:off x="914400" y="2057400"/>
            <a:ext cx="10284480" cy="41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Many studies have been conducted on diagnosing brain tumors using various methods.  Not many have been conducted on post-treatment follow up images.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likelihood of tumor regrowth increases significantly if it is not completely removed; therefore, accurately determining if a tumor has been completely removed is critical for developing the rest of the patient’s treatment plan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study will train a PyTorch U-Net model using datasets from the BraTS (Brain Tumor Segmentation) challenge sponsored by the Center for Biomedical Image Computing and Analytics.  After training the model will be used on a post-treatment dataset to preform segmentation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Picture 1" descr="A blue and white logo&#10;&#10;Description automatically generated"/>
          <p:cNvPicPr/>
          <p:nvPr/>
        </p:nvPicPr>
        <p:blipFill>
          <a:blip r:embed="rId1"/>
          <a:stretch/>
        </p:blipFill>
        <p:spPr>
          <a:xfrm>
            <a:off x="10199520" y="282600"/>
            <a:ext cx="1795680" cy="595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6960" y="0"/>
            <a:ext cx="12184200" cy="685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72400" y="238680"/>
            <a:ext cx="11013840" cy="119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Background Information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ketchy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68120" cy="13680"/>
          </a:xfrm>
          <a:custGeom>
            <a:avLst/>
            <a:gdLst>
              <a:gd name="textAreaLeft" fmla="*/ 0 w 10968120"/>
              <a:gd name="textAreaRight" fmla="*/ 10972800 w 10968120"/>
              <a:gd name="textAreaTop" fmla="*/ 0 h 13680"/>
              <a:gd name="textAreaBottom" fmla="*/ 18360 h 13680"/>
              <a:gd name="GluePoint1X" fmla="*/ 0 w 10972800"/>
              <a:gd name="GluePoint1Y" fmla="*/ 0 h 18288"/>
              <a:gd name="GluePoint2X" fmla="*/ 356616 w 10972800"/>
              <a:gd name="GluePoint2Y" fmla="*/ 0 h 18288"/>
              <a:gd name="GluePoint3X" fmla="*/ 1042416 w 10972800"/>
              <a:gd name="GluePoint3Y" fmla="*/ 0 h 18288"/>
              <a:gd name="GluePoint4X" fmla="*/ 1947672 w 10972800"/>
              <a:gd name="GluePoint4Y" fmla="*/ 0 h 18288"/>
              <a:gd name="GluePoint5X" fmla="*/ 2633472 w 10972800"/>
              <a:gd name="GluePoint5Y" fmla="*/ 0 h 18288"/>
              <a:gd name="GluePoint6X" fmla="*/ 2990088 w 10972800"/>
              <a:gd name="GluePoint6Y" fmla="*/ 0 h 18288"/>
              <a:gd name="GluePoint7X" fmla="*/ 3456432 w 10972800"/>
              <a:gd name="GluePoint7Y" fmla="*/ 0 h 18288"/>
              <a:gd name="GluePoint8X" fmla="*/ 4361688 w 10972800"/>
              <a:gd name="GluePoint8Y" fmla="*/ 0 h 18288"/>
              <a:gd name="GluePoint9X" fmla="*/ 5266944 w 10972800"/>
              <a:gd name="GluePoint9Y" fmla="*/ 0 h 18288"/>
              <a:gd name="GluePoint10X" fmla="*/ 6172200 w 10972800"/>
              <a:gd name="GluePoint10Y" fmla="*/ 0 h 18288"/>
              <a:gd name="GluePoint11X" fmla="*/ 6528816 w 10972800"/>
              <a:gd name="GluePoint11Y" fmla="*/ 0 h 18288"/>
              <a:gd name="GluePoint12X" fmla="*/ 7214616 w 10972800"/>
              <a:gd name="GluePoint12Y" fmla="*/ 0 h 18288"/>
              <a:gd name="GluePoint13X" fmla="*/ 7790688 w 10972800"/>
              <a:gd name="GluePoint13Y" fmla="*/ 0 h 18288"/>
              <a:gd name="GluePoint14X" fmla="*/ 8147304 w 10972800"/>
              <a:gd name="GluePoint14Y" fmla="*/ 0 h 18288"/>
              <a:gd name="GluePoint15X" fmla="*/ 9052560 w 10972800"/>
              <a:gd name="GluePoint15Y" fmla="*/ 0 h 18288"/>
              <a:gd name="GluePoint16X" fmla="*/ 9409176 w 10972800"/>
              <a:gd name="GluePoint16Y" fmla="*/ 0 h 18288"/>
              <a:gd name="GluePoint17X" fmla="*/ 9765792 w 10972800"/>
              <a:gd name="GluePoint17Y" fmla="*/ 0 h 18288"/>
              <a:gd name="GluePoint18X" fmla="*/ 10341864 w 10972800"/>
              <a:gd name="GluePoint18Y" fmla="*/ 0 h 18288"/>
              <a:gd name="GluePoint19X" fmla="*/ 10972800 w 10972800"/>
              <a:gd name="GluePoint19Y" fmla="*/ 0 h 18288"/>
              <a:gd name="GluePoint20X" fmla="*/ 10972800 w 10972800"/>
              <a:gd name="GluePoint20Y" fmla="*/ 18288 h 18288"/>
              <a:gd name="GluePoint21X" fmla="*/ 10177272 w 10972800"/>
              <a:gd name="GluePoint21Y" fmla="*/ 18288 h 18288"/>
              <a:gd name="GluePoint22X" fmla="*/ 9820656 w 10972800"/>
              <a:gd name="GluePoint22Y" fmla="*/ 18288 h 18288"/>
              <a:gd name="GluePoint23X" fmla="*/ 9464040 w 10972800"/>
              <a:gd name="GluePoint23Y" fmla="*/ 18288 h 18288"/>
              <a:gd name="GluePoint24X" fmla="*/ 8778240 w 10972800"/>
              <a:gd name="GluePoint24Y" fmla="*/ 18288 h 18288"/>
              <a:gd name="GluePoint25X" fmla="*/ 8421624 w 10972800"/>
              <a:gd name="GluePoint25Y" fmla="*/ 18288 h 18288"/>
              <a:gd name="GluePoint26X" fmla="*/ 7735824 w 10972800"/>
              <a:gd name="GluePoint26Y" fmla="*/ 18288 h 18288"/>
              <a:gd name="GluePoint27X" fmla="*/ 6940296 w 10972800"/>
              <a:gd name="GluePoint27Y" fmla="*/ 18288 h 18288"/>
              <a:gd name="GluePoint28X" fmla="*/ 6254496 w 10972800"/>
              <a:gd name="GluePoint28Y" fmla="*/ 18288 h 18288"/>
              <a:gd name="GluePoint29X" fmla="*/ 5458968 w 10972800"/>
              <a:gd name="GluePoint29Y" fmla="*/ 18288 h 18288"/>
              <a:gd name="GluePoint30X" fmla="*/ 4663440 w 10972800"/>
              <a:gd name="GluePoint30Y" fmla="*/ 18288 h 18288"/>
              <a:gd name="GluePoint31X" fmla="*/ 4306824 w 10972800"/>
              <a:gd name="GluePoint31Y" fmla="*/ 18288 h 18288"/>
              <a:gd name="GluePoint32X" fmla="*/ 3840480 w 10972800"/>
              <a:gd name="GluePoint32Y" fmla="*/ 18288 h 18288"/>
              <a:gd name="GluePoint33X" fmla="*/ 3264408 w 10972800"/>
              <a:gd name="GluePoint33Y" fmla="*/ 18288 h 18288"/>
              <a:gd name="GluePoint34X" fmla="*/ 2578608 w 10972800"/>
              <a:gd name="GluePoint34Y" fmla="*/ 18288 h 18288"/>
              <a:gd name="GluePoint35X" fmla="*/ 1673352 w 10972800"/>
              <a:gd name="GluePoint35Y" fmla="*/ 18288 h 18288"/>
              <a:gd name="GluePoint36X" fmla="*/ 877824 w 10972800"/>
              <a:gd name="GluePoint36Y" fmla="*/ 18288 h 18288"/>
              <a:gd name="GluePoint37X" fmla="*/ 0 w 10972800"/>
              <a:gd name="GluePoint37Y" fmla="*/ 18288 h 18288"/>
              <a:gd name="GluePoint38X" fmla="*/ 0 w 10972800"/>
              <a:gd name="GluePoint38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</a:cxnLst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85800" y="1829520"/>
            <a:ext cx="10855080" cy="297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In this part of the presentation I will provide background information on the following: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What is segmentation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Examples of segmentation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Example of how segmentation can identify core tumor tissue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Information about the different modalities used in MR images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2" descr="A blue and white logo&#10;&#10;Description automatically generated"/>
          <p:cNvPicPr/>
          <p:nvPr/>
        </p:nvPicPr>
        <p:blipFill>
          <a:blip r:embed="rId1"/>
          <a:stretch/>
        </p:blipFill>
        <p:spPr>
          <a:xfrm>
            <a:off x="10199520" y="282600"/>
            <a:ext cx="1795680" cy="595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6960" y="0"/>
            <a:ext cx="12184200" cy="685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72400" y="238680"/>
            <a:ext cx="11013840" cy="119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What is Segmentation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ketchy lin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68120" cy="13680"/>
          </a:xfrm>
          <a:custGeom>
            <a:avLst/>
            <a:gdLst>
              <a:gd name="textAreaLeft" fmla="*/ 0 w 10968120"/>
              <a:gd name="textAreaRight" fmla="*/ 10972800 w 10968120"/>
              <a:gd name="textAreaTop" fmla="*/ 0 h 13680"/>
              <a:gd name="textAreaBottom" fmla="*/ 18360 h 13680"/>
              <a:gd name="GluePoint1X" fmla="*/ 0 w 10972800"/>
              <a:gd name="GluePoint1Y" fmla="*/ 0 h 18288"/>
              <a:gd name="GluePoint2X" fmla="*/ 356616 w 10972800"/>
              <a:gd name="GluePoint2Y" fmla="*/ 0 h 18288"/>
              <a:gd name="GluePoint3X" fmla="*/ 1042416 w 10972800"/>
              <a:gd name="GluePoint3Y" fmla="*/ 0 h 18288"/>
              <a:gd name="GluePoint4X" fmla="*/ 1947672 w 10972800"/>
              <a:gd name="GluePoint4Y" fmla="*/ 0 h 18288"/>
              <a:gd name="GluePoint5X" fmla="*/ 2633472 w 10972800"/>
              <a:gd name="GluePoint5Y" fmla="*/ 0 h 18288"/>
              <a:gd name="GluePoint6X" fmla="*/ 2990088 w 10972800"/>
              <a:gd name="GluePoint6Y" fmla="*/ 0 h 18288"/>
              <a:gd name="GluePoint7X" fmla="*/ 3456432 w 10972800"/>
              <a:gd name="GluePoint7Y" fmla="*/ 0 h 18288"/>
              <a:gd name="GluePoint8X" fmla="*/ 4361688 w 10972800"/>
              <a:gd name="GluePoint8Y" fmla="*/ 0 h 18288"/>
              <a:gd name="GluePoint9X" fmla="*/ 5266944 w 10972800"/>
              <a:gd name="GluePoint9Y" fmla="*/ 0 h 18288"/>
              <a:gd name="GluePoint10X" fmla="*/ 6172200 w 10972800"/>
              <a:gd name="GluePoint10Y" fmla="*/ 0 h 18288"/>
              <a:gd name="GluePoint11X" fmla="*/ 6528816 w 10972800"/>
              <a:gd name="GluePoint11Y" fmla="*/ 0 h 18288"/>
              <a:gd name="GluePoint12X" fmla="*/ 7214616 w 10972800"/>
              <a:gd name="GluePoint12Y" fmla="*/ 0 h 18288"/>
              <a:gd name="GluePoint13X" fmla="*/ 7790688 w 10972800"/>
              <a:gd name="GluePoint13Y" fmla="*/ 0 h 18288"/>
              <a:gd name="GluePoint14X" fmla="*/ 8147304 w 10972800"/>
              <a:gd name="GluePoint14Y" fmla="*/ 0 h 18288"/>
              <a:gd name="GluePoint15X" fmla="*/ 9052560 w 10972800"/>
              <a:gd name="GluePoint15Y" fmla="*/ 0 h 18288"/>
              <a:gd name="GluePoint16X" fmla="*/ 9409176 w 10972800"/>
              <a:gd name="GluePoint16Y" fmla="*/ 0 h 18288"/>
              <a:gd name="GluePoint17X" fmla="*/ 9765792 w 10972800"/>
              <a:gd name="GluePoint17Y" fmla="*/ 0 h 18288"/>
              <a:gd name="GluePoint18X" fmla="*/ 10341864 w 10972800"/>
              <a:gd name="GluePoint18Y" fmla="*/ 0 h 18288"/>
              <a:gd name="GluePoint19X" fmla="*/ 10972800 w 10972800"/>
              <a:gd name="GluePoint19Y" fmla="*/ 0 h 18288"/>
              <a:gd name="GluePoint20X" fmla="*/ 10972800 w 10972800"/>
              <a:gd name="GluePoint20Y" fmla="*/ 18288 h 18288"/>
              <a:gd name="GluePoint21X" fmla="*/ 10177272 w 10972800"/>
              <a:gd name="GluePoint21Y" fmla="*/ 18288 h 18288"/>
              <a:gd name="GluePoint22X" fmla="*/ 9820656 w 10972800"/>
              <a:gd name="GluePoint22Y" fmla="*/ 18288 h 18288"/>
              <a:gd name="GluePoint23X" fmla="*/ 9464040 w 10972800"/>
              <a:gd name="GluePoint23Y" fmla="*/ 18288 h 18288"/>
              <a:gd name="GluePoint24X" fmla="*/ 8778240 w 10972800"/>
              <a:gd name="GluePoint24Y" fmla="*/ 18288 h 18288"/>
              <a:gd name="GluePoint25X" fmla="*/ 8421624 w 10972800"/>
              <a:gd name="GluePoint25Y" fmla="*/ 18288 h 18288"/>
              <a:gd name="GluePoint26X" fmla="*/ 7735824 w 10972800"/>
              <a:gd name="GluePoint26Y" fmla="*/ 18288 h 18288"/>
              <a:gd name="GluePoint27X" fmla="*/ 6940296 w 10972800"/>
              <a:gd name="GluePoint27Y" fmla="*/ 18288 h 18288"/>
              <a:gd name="GluePoint28X" fmla="*/ 6254496 w 10972800"/>
              <a:gd name="GluePoint28Y" fmla="*/ 18288 h 18288"/>
              <a:gd name="GluePoint29X" fmla="*/ 5458968 w 10972800"/>
              <a:gd name="GluePoint29Y" fmla="*/ 18288 h 18288"/>
              <a:gd name="GluePoint30X" fmla="*/ 4663440 w 10972800"/>
              <a:gd name="GluePoint30Y" fmla="*/ 18288 h 18288"/>
              <a:gd name="GluePoint31X" fmla="*/ 4306824 w 10972800"/>
              <a:gd name="GluePoint31Y" fmla="*/ 18288 h 18288"/>
              <a:gd name="GluePoint32X" fmla="*/ 3840480 w 10972800"/>
              <a:gd name="GluePoint32Y" fmla="*/ 18288 h 18288"/>
              <a:gd name="GluePoint33X" fmla="*/ 3264408 w 10972800"/>
              <a:gd name="GluePoint33Y" fmla="*/ 18288 h 18288"/>
              <a:gd name="GluePoint34X" fmla="*/ 2578608 w 10972800"/>
              <a:gd name="GluePoint34Y" fmla="*/ 18288 h 18288"/>
              <a:gd name="GluePoint35X" fmla="*/ 1673352 w 10972800"/>
              <a:gd name="GluePoint35Y" fmla="*/ 18288 h 18288"/>
              <a:gd name="GluePoint36X" fmla="*/ 877824 w 10972800"/>
              <a:gd name="GluePoint36Y" fmla="*/ 18288 h 18288"/>
              <a:gd name="GluePoint37X" fmla="*/ 0 w 10972800"/>
              <a:gd name="GluePoint37Y" fmla="*/ 18288 h 18288"/>
              <a:gd name="GluePoint38X" fmla="*/ 0 w 10972800"/>
              <a:gd name="GluePoint38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</a:cxnLst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685800" y="1829520"/>
            <a:ext cx="1085508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When segmentation is applied to a brain tumor MR Image it identifies the boundaries of the tumor regions within the brain scan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These boundaries are divided into masks and assigned a label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Label 0 – normal brain tissue (non-tumor/background)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Label 1 – necrotic/non-enhancing tumor core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Label 2 – edema (ED)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Label 3 – is not used to avoid confusion with binary encoders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Label 4 – enhancing tumor (ET)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Picture 4" descr="A blue and white logo&#10;&#10;Description automatically generated"/>
          <p:cNvPicPr/>
          <p:nvPr/>
        </p:nvPicPr>
        <p:blipFill>
          <a:blip r:embed="rId1"/>
          <a:stretch/>
        </p:blipFill>
        <p:spPr>
          <a:xfrm>
            <a:off x="10199520" y="282600"/>
            <a:ext cx="1795680" cy="595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6960" y="0"/>
            <a:ext cx="12184200" cy="685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72400" y="238680"/>
            <a:ext cx="11013840" cy="119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Calibri Light"/>
              </a:rPr>
              <a:t>What Segmentation Provides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ketchy lin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68120" cy="13680"/>
          </a:xfrm>
          <a:custGeom>
            <a:avLst/>
            <a:gdLst>
              <a:gd name="textAreaLeft" fmla="*/ 0 w 10968120"/>
              <a:gd name="textAreaRight" fmla="*/ 10972800 w 10968120"/>
              <a:gd name="textAreaTop" fmla="*/ 0 h 13680"/>
              <a:gd name="textAreaBottom" fmla="*/ 18360 h 13680"/>
              <a:gd name="GluePoint1X" fmla="*/ 0 w 10972800"/>
              <a:gd name="GluePoint1Y" fmla="*/ 0 h 18288"/>
              <a:gd name="GluePoint2X" fmla="*/ 356616 w 10972800"/>
              <a:gd name="GluePoint2Y" fmla="*/ 0 h 18288"/>
              <a:gd name="GluePoint3X" fmla="*/ 1042416 w 10972800"/>
              <a:gd name="GluePoint3Y" fmla="*/ 0 h 18288"/>
              <a:gd name="GluePoint4X" fmla="*/ 1947672 w 10972800"/>
              <a:gd name="GluePoint4Y" fmla="*/ 0 h 18288"/>
              <a:gd name="GluePoint5X" fmla="*/ 2633472 w 10972800"/>
              <a:gd name="GluePoint5Y" fmla="*/ 0 h 18288"/>
              <a:gd name="GluePoint6X" fmla="*/ 2990088 w 10972800"/>
              <a:gd name="GluePoint6Y" fmla="*/ 0 h 18288"/>
              <a:gd name="GluePoint7X" fmla="*/ 3456432 w 10972800"/>
              <a:gd name="GluePoint7Y" fmla="*/ 0 h 18288"/>
              <a:gd name="GluePoint8X" fmla="*/ 4361688 w 10972800"/>
              <a:gd name="GluePoint8Y" fmla="*/ 0 h 18288"/>
              <a:gd name="GluePoint9X" fmla="*/ 5266944 w 10972800"/>
              <a:gd name="GluePoint9Y" fmla="*/ 0 h 18288"/>
              <a:gd name="GluePoint10X" fmla="*/ 6172200 w 10972800"/>
              <a:gd name="GluePoint10Y" fmla="*/ 0 h 18288"/>
              <a:gd name="GluePoint11X" fmla="*/ 6528816 w 10972800"/>
              <a:gd name="GluePoint11Y" fmla="*/ 0 h 18288"/>
              <a:gd name="GluePoint12X" fmla="*/ 7214616 w 10972800"/>
              <a:gd name="GluePoint12Y" fmla="*/ 0 h 18288"/>
              <a:gd name="GluePoint13X" fmla="*/ 7790688 w 10972800"/>
              <a:gd name="GluePoint13Y" fmla="*/ 0 h 18288"/>
              <a:gd name="GluePoint14X" fmla="*/ 8147304 w 10972800"/>
              <a:gd name="GluePoint14Y" fmla="*/ 0 h 18288"/>
              <a:gd name="GluePoint15X" fmla="*/ 9052560 w 10972800"/>
              <a:gd name="GluePoint15Y" fmla="*/ 0 h 18288"/>
              <a:gd name="GluePoint16X" fmla="*/ 9409176 w 10972800"/>
              <a:gd name="GluePoint16Y" fmla="*/ 0 h 18288"/>
              <a:gd name="GluePoint17X" fmla="*/ 9765792 w 10972800"/>
              <a:gd name="GluePoint17Y" fmla="*/ 0 h 18288"/>
              <a:gd name="GluePoint18X" fmla="*/ 10341864 w 10972800"/>
              <a:gd name="GluePoint18Y" fmla="*/ 0 h 18288"/>
              <a:gd name="GluePoint19X" fmla="*/ 10972800 w 10972800"/>
              <a:gd name="GluePoint19Y" fmla="*/ 0 h 18288"/>
              <a:gd name="GluePoint20X" fmla="*/ 10972800 w 10972800"/>
              <a:gd name="GluePoint20Y" fmla="*/ 18288 h 18288"/>
              <a:gd name="GluePoint21X" fmla="*/ 10177272 w 10972800"/>
              <a:gd name="GluePoint21Y" fmla="*/ 18288 h 18288"/>
              <a:gd name="GluePoint22X" fmla="*/ 9820656 w 10972800"/>
              <a:gd name="GluePoint22Y" fmla="*/ 18288 h 18288"/>
              <a:gd name="GluePoint23X" fmla="*/ 9464040 w 10972800"/>
              <a:gd name="GluePoint23Y" fmla="*/ 18288 h 18288"/>
              <a:gd name="GluePoint24X" fmla="*/ 8778240 w 10972800"/>
              <a:gd name="GluePoint24Y" fmla="*/ 18288 h 18288"/>
              <a:gd name="GluePoint25X" fmla="*/ 8421624 w 10972800"/>
              <a:gd name="GluePoint25Y" fmla="*/ 18288 h 18288"/>
              <a:gd name="GluePoint26X" fmla="*/ 7735824 w 10972800"/>
              <a:gd name="GluePoint26Y" fmla="*/ 18288 h 18288"/>
              <a:gd name="GluePoint27X" fmla="*/ 6940296 w 10972800"/>
              <a:gd name="GluePoint27Y" fmla="*/ 18288 h 18288"/>
              <a:gd name="GluePoint28X" fmla="*/ 6254496 w 10972800"/>
              <a:gd name="GluePoint28Y" fmla="*/ 18288 h 18288"/>
              <a:gd name="GluePoint29X" fmla="*/ 5458968 w 10972800"/>
              <a:gd name="GluePoint29Y" fmla="*/ 18288 h 18288"/>
              <a:gd name="GluePoint30X" fmla="*/ 4663440 w 10972800"/>
              <a:gd name="GluePoint30Y" fmla="*/ 18288 h 18288"/>
              <a:gd name="GluePoint31X" fmla="*/ 4306824 w 10972800"/>
              <a:gd name="GluePoint31Y" fmla="*/ 18288 h 18288"/>
              <a:gd name="GluePoint32X" fmla="*/ 3840480 w 10972800"/>
              <a:gd name="GluePoint32Y" fmla="*/ 18288 h 18288"/>
              <a:gd name="GluePoint33X" fmla="*/ 3264408 w 10972800"/>
              <a:gd name="GluePoint33Y" fmla="*/ 18288 h 18288"/>
              <a:gd name="GluePoint34X" fmla="*/ 2578608 w 10972800"/>
              <a:gd name="GluePoint34Y" fmla="*/ 18288 h 18288"/>
              <a:gd name="GluePoint35X" fmla="*/ 1673352 w 10972800"/>
              <a:gd name="GluePoint35Y" fmla="*/ 18288 h 18288"/>
              <a:gd name="GluePoint36X" fmla="*/ 877824 w 10972800"/>
              <a:gd name="GluePoint36Y" fmla="*/ 18288 h 18288"/>
              <a:gd name="GluePoint37X" fmla="*/ 0 w 10972800"/>
              <a:gd name="GluePoint37Y" fmla="*/ 18288 h 18288"/>
              <a:gd name="GluePoint38X" fmla="*/ 0 w 10972800"/>
              <a:gd name="GluePoint38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</a:cxnLst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685800" y="1829520"/>
            <a:ext cx="1085508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Segmentation provides the following: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Location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: Identifies exact location of the brain tumor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Size and Shape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: Measures the tumor’s dimensions and form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Heterogeneity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: Reveals different components within the tumor (e.g. solid tissue, necrotic areas)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Surrounding Tissue Involvement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: Shows how the tumor interacts with adjacent brain structures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Cross-Modality Comparison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: Provides a comprehensive view by comparing different imaging modalities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Picture 5" descr="A blue and white logo&#10;&#10;Description automatically generated"/>
          <p:cNvPicPr/>
          <p:nvPr/>
        </p:nvPicPr>
        <p:blipFill>
          <a:blip r:embed="rId1"/>
          <a:stretch/>
        </p:blipFill>
        <p:spPr>
          <a:xfrm>
            <a:off x="10199520" y="282600"/>
            <a:ext cx="1795680" cy="595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00" y="0"/>
            <a:ext cx="12184200" cy="685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72400" y="238680"/>
            <a:ext cx="11013840" cy="136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Visualization of Brain Tumor Segmentation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ketchy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68120" cy="13680"/>
          </a:xfrm>
          <a:custGeom>
            <a:avLst/>
            <a:gdLst>
              <a:gd name="textAreaLeft" fmla="*/ 0 w 10968120"/>
              <a:gd name="textAreaRight" fmla="*/ 10972800 w 10968120"/>
              <a:gd name="textAreaTop" fmla="*/ 0 h 13680"/>
              <a:gd name="textAreaBottom" fmla="*/ 18360 h 13680"/>
              <a:gd name="GluePoint1X" fmla="*/ 0 w 10972800"/>
              <a:gd name="GluePoint1Y" fmla="*/ 0 h 18288"/>
              <a:gd name="GluePoint2X" fmla="*/ 356616 w 10972800"/>
              <a:gd name="GluePoint2Y" fmla="*/ 0 h 18288"/>
              <a:gd name="GluePoint3X" fmla="*/ 1042416 w 10972800"/>
              <a:gd name="GluePoint3Y" fmla="*/ 0 h 18288"/>
              <a:gd name="GluePoint4X" fmla="*/ 1947672 w 10972800"/>
              <a:gd name="GluePoint4Y" fmla="*/ 0 h 18288"/>
              <a:gd name="GluePoint5X" fmla="*/ 2633472 w 10972800"/>
              <a:gd name="GluePoint5Y" fmla="*/ 0 h 18288"/>
              <a:gd name="GluePoint6X" fmla="*/ 2990088 w 10972800"/>
              <a:gd name="GluePoint6Y" fmla="*/ 0 h 18288"/>
              <a:gd name="GluePoint7X" fmla="*/ 3456432 w 10972800"/>
              <a:gd name="GluePoint7Y" fmla="*/ 0 h 18288"/>
              <a:gd name="GluePoint8X" fmla="*/ 4361688 w 10972800"/>
              <a:gd name="GluePoint8Y" fmla="*/ 0 h 18288"/>
              <a:gd name="GluePoint9X" fmla="*/ 5266944 w 10972800"/>
              <a:gd name="GluePoint9Y" fmla="*/ 0 h 18288"/>
              <a:gd name="GluePoint10X" fmla="*/ 6172200 w 10972800"/>
              <a:gd name="GluePoint10Y" fmla="*/ 0 h 18288"/>
              <a:gd name="GluePoint11X" fmla="*/ 6528816 w 10972800"/>
              <a:gd name="GluePoint11Y" fmla="*/ 0 h 18288"/>
              <a:gd name="GluePoint12X" fmla="*/ 7214616 w 10972800"/>
              <a:gd name="GluePoint12Y" fmla="*/ 0 h 18288"/>
              <a:gd name="GluePoint13X" fmla="*/ 7790688 w 10972800"/>
              <a:gd name="GluePoint13Y" fmla="*/ 0 h 18288"/>
              <a:gd name="GluePoint14X" fmla="*/ 8147304 w 10972800"/>
              <a:gd name="GluePoint14Y" fmla="*/ 0 h 18288"/>
              <a:gd name="GluePoint15X" fmla="*/ 9052560 w 10972800"/>
              <a:gd name="GluePoint15Y" fmla="*/ 0 h 18288"/>
              <a:gd name="GluePoint16X" fmla="*/ 9409176 w 10972800"/>
              <a:gd name="GluePoint16Y" fmla="*/ 0 h 18288"/>
              <a:gd name="GluePoint17X" fmla="*/ 9765792 w 10972800"/>
              <a:gd name="GluePoint17Y" fmla="*/ 0 h 18288"/>
              <a:gd name="GluePoint18X" fmla="*/ 10341864 w 10972800"/>
              <a:gd name="GluePoint18Y" fmla="*/ 0 h 18288"/>
              <a:gd name="GluePoint19X" fmla="*/ 10972800 w 10972800"/>
              <a:gd name="GluePoint19Y" fmla="*/ 0 h 18288"/>
              <a:gd name="GluePoint20X" fmla="*/ 10972800 w 10972800"/>
              <a:gd name="GluePoint20Y" fmla="*/ 18288 h 18288"/>
              <a:gd name="GluePoint21X" fmla="*/ 10177272 w 10972800"/>
              <a:gd name="GluePoint21Y" fmla="*/ 18288 h 18288"/>
              <a:gd name="GluePoint22X" fmla="*/ 9820656 w 10972800"/>
              <a:gd name="GluePoint22Y" fmla="*/ 18288 h 18288"/>
              <a:gd name="GluePoint23X" fmla="*/ 9464040 w 10972800"/>
              <a:gd name="GluePoint23Y" fmla="*/ 18288 h 18288"/>
              <a:gd name="GluePoint24X" fmla="*/ 8778240 w 10972800"/>
              <a:gd name="GluePoint24Y" fmla="*/ 18288 h 18288"/>
              <a:gd name="GluePoint25X" fmla="*/ 8421624 w 10972800"/>
              <a:gd name="GluePoint25Y" fmla="*/ 18288 h 18288"/>
              <a:gd name="GluePoint26X" fmla="*/ 7735824 w 10972800"/>
              <a:gd name="GluePoint26Y" fmla="*/ 18288 h 18288"/>
              <a:gd name="GluePoint27X" fmla="*/ 6940296 w 10972800"/>
              <a:gd name="GluePoint27Y" fmla="*/ 18288 h 18288"/>
              <a:gd name="GluePoint28X" fmla="*/ 6254496 w 10972800"/>
              <a:gd name="GluePoint28Y" fmla="*/ 18288 h 18288"/>
              <a:gd name="GluePoint29X" fmla="*/ 5458968 w 10972800"/>
              <a:gd name="GluePoint29Y" fmla="*/ 18288 h 18288"/>
              <a:gd name="GluePoint30X" fmla="*/ 4663440 w 10972800"/>
              <a:gd name="GluePoint30Y" fmla="*/ 18288 h 18288"/>
              <a:gd name="GluePoint31X" fmla="*/ 4306824 w 10972800"/>
              <a:gd name="GluePoint31Y" fmla="*/ 18288 h 18288"/>
              <a:gd name="GluePoint32X" fmla="*/ 3840480 w 10972800"/>
              <a:gd name="GluePoint32Y" fmla="*/ 18288 h 18288"/>
              <a:gd name="GluePoint33X" fmla="*/ 3264408 w 10972800"/>
              <a:gd name="GluePoint33Y" fmla="*/ 18288 h 18288"/>
              <a:gd name="GluePoint34X" fmla="*/ 2578608 w 10972800"/>
              <a:gd name="GluePoint34Y" fmla="*/ 18288 h 18288"/>
              <a:gd name="GluePoint35X" fmla="*/ 1673352 w 10972800"/>
              <a:gd name="GluePoint35Y" fmla="*/ 18288 h 18288"/>
              <a:gd name="GluePoint36X" fmla="*/ 877824 w 10972800"/>
              <a:gd name="GluePoint36Y" fmla="*/ 18288 h 18288"/>
              <a:gd name="GluePoint37X" fmla="*/ 0 w 10972800"/>
              <a:gd name="GluePoint37Y" fmla="*/ 18288 h 18288"/>
              <a:gd name="GluePoint38X" fmla="*/ 0 w 10972800"/>
              <a:gd name="GluePoint38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</a:cxnLst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5257080" cy="388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Raw visualization segmentation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regions are color coded for easy of interpretation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Label 0 (normal) is the largest region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Tumor is identified in blue and yellow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Green is edema (swelling)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6172200" y="2039400"/>
            <a:ext cx="4836960" cy="390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Picture 6" descr="A blue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99520" y="282600"/>
            <a:ext cx="1795680" cy="595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8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00" y="0"/>
            <a:ext cx="12184200" cy="685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72400" y="238680"/>
            <a:ext cx="11013840" cy="136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Brain Tumor Segmentation by Label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ketchy lin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68120" cy="13680"/>
          </a:xfrm>
          <a:custGeom>
            <a:avLst/>
            <a:gdLst>
              <a:gd name="textAreaLeft" fmla="*/ 0 w 10968120"/>
              <a:gd name="textAreaRight" fmla="*/ 10972800 w 10968120"/>
              <a:gd name="textAreaTop" fmla="*/ 0 h 13680"/>
              <a:gd name="textAreaBottom" fmla="*/ 18360 h 13680"/>
              <a:gd name="GluePoint1X" fmla="*/ 0 w 10972800"/>
              <a:gd name="GluePoint1Y" fmla="*/ 0 h 18288"/>
              <a:gd name="GluePoint2X" fmla="*/ 356616 w 10972800"/>
              <a:gd name="GluePoint2Y" fmla="*/ 0 h 18288"/>
              <a:gd name="GluePoint3X" fmla="*/ 1042416 w 10972800"/>
              <a:gd name="GluePoint3Y" fmla="*/ 0 h 18288"/>
              <a:gd name="GluePoint4X" fmla="*/ 1947672 w 10972800"/>
              <a:gd name="GluePoint4Y" fmla="*/ 0 h 18288"/>
              <a:gd name="GluePoint5X" fmla="*/ 2633472 w 10972800"/>
              <a:gd name="GluePoint5Y" fmla="*/ 0 h 18288"/>
              <a:gd name="GluePoint6X" fmla="*/ 2990088 w 10972800"/>
              <a:gd name="GluePoint6Y" fmla="*/ 0 h 18288"/>
              <a:gd name="GluePoint7X" fmla="*/ 3456432 w 10972800"/>
              <a:gd name="GluePoint7Y" fmla="*/ 0 h 18288"/>
              <a:gd name="GluePoint8X" fmla="*/ 4361688 w 10972800"/>
              <a:gd name="GluePoint8Y" fmla="*/ 0 h 18288"/>
              <a:gd name="GluePoint9X" fmla="*/ 5266944 w 10972800"/>
              <a:gd name="GluePoint9Y" fmla="*/ 0 h 18288"/>
              <a:gd name="GluePoint10X" fmla="*/ 6172200 w 10972800"/>
              <a:gd name="GluePoint10Y" fmla="*/ 0 h 18288"/>
              <a:gd name="GluePoint11X" fmla="*/ 6528816 w 10972800"/>
              <a:gd name="GluePoint11Y" fmla="*/ 0 h 18288"/>
              <a:gd name="GluePoint12X" fmla="*/ 7214616 w 10972800"/>
              <a:gd name="GluePoint12Y" fmla="*/ 0 h 18288"/>
              <a:gd name="GluePoint13X" fmla="*/ 7790688 w 10972800"/>
              <a:gd name="GluePoint13Y" fmla="*/ 0 h 18288"/>
              <a:gd name="GluePoint14X" fmla="*/ 8147304 w 10972800"/>
              <a:gd name="GluePoint14Y" fmla="*/ 0 h 18288"/>
              <a:gd name="GluePoint15X" fmla="*/ 9052560 w 10972800"/>
              <a:gd name="GluePoint15Y" fmla="*/ 0 h 18288"/>
              <a:gd name="GluePoint16X" fmla="*/ 9409176 w 10972800"/>
              <a:gd name="GluePoint16Y" fmla="*/ 0 h 18288"/>
              <a:gd name="GluePoint17X" fmla="*/ 9765792 w 10972800"/>
              <a:gd name="GluePoint17Y" fmla="*/ 0 h 18288"/>
              <a:gd name="GluePoint18X" fmla="*/ 10341864 w 10972800"/>
              <a:gd name="GluePoint18Y" fmla="*/ 0 h 18288"/>
              <a:gd name="GluePoint19X" fmla="*/ 10972800 w 10972800"/>
              <a:gd name="GluePoint19Y" fmla="*/ 0 h 18288"/>
              <a:gd name="GluePoint20X" fmla="*/ 10972800 w 10972800"/>
              <a:gd name="GluePoint20Y" fmla="*/ 18288 h 18288"/>
              <a:gd name="GluePoint21X" fmla="*/ 10177272 w 10972800"/>
              <a:gd name="GluePoint21Y" fmla="*/ 18288 h 18288"/>
              <a:gd name="GluePoint22X" fmla="*/ 9820656 w 10972800"/>
              <a:gd name="GluePoint22Y" fmla="*/ 18288 h 18288"/>
              <a:gd name="GluePoint23X" fmla="*/ 9464040 w 10972800"/>
              <a:gd name="GluePoint23Y" fmla="*/ 18288 h 18288"/>
              <a:gd name="GluePoint24X" fmla="*/ 8778240 w 10972800"/>
              <a:gd name="GluePoint24Y" fmla="*/ 18288 h 18288"/>
              <a:gd name="GluePoint25X" fmla="*/ 8421624 w 10972800"/>
              <a:gd name="GluePoint25Y" fmla="*/ 18288 h 18288"/>
              <a:gd name="GluePoint26X" fmla="*/ 7735824 w 10972800"/>
              <a:gd name="GluePoint26Y" fmla="*/ 18288 h 18288"/>
              <a:gd name="GluePoint27X" fmla="*/ 6940296 w 10972800"/>
              <a:gd name="GluePoint27Y" fmla="*/ 18288 h 18288"/>
              <a:gd name="GluePoint28X" fmla="*/ 6254496 w 10972800"/>
              <a:gd name="GluePoint28Y" fmla="*/ 18288 h 18288"/>
              <a:gd name="GluePoint29X" fmla="*/ 5458968 w 10972800"/>
              <a:gd name="GluePoint29Y" fmla="*/ 18288 h 18288"/>
              <a:gd name="GluePoint30X" fmla="*/ 4663440 w 10972800"/>
              <a:gd name="GluePoint30Y" fmla="*/ 18288 h 18288"/>
              <a:gd name="GluePoint31X" fmla="*/ 4306824 w 10972800"/>
              <a:gd name="GluePoint31Y" fmla="*/ 18288 h 18288"/>
              <a:gd name="GluePoint32X" fmla="*/ 3840480 w 10972800"/>
              <a:gd name="GluePoint32Y" fmla="*/ 18288 h 18288"/>
              <a:gd name="GluePoint33X" fmla="*/ 3264408 w 10972800"/>
              <a:gd name="GluePoint33Y" fmla="*/ 18288 h 18288"/>
              <a:gd name="GluePoint34X" fmla="*/ 2578608 w 10972800"/>
              <a:gd name="GluePoint34Y" fmla="*/ 18288 h 18288"/>
              <a:gd name="GluePoint35X" fmla="*/ 1673352 w 10972800"/>
              <a:gd name="GluePoint35Y" fmla="*/ 18288 h 18288"/>
              <a:gd name="GluePoint36X" fmla="*/ 877824 w 10972800"/>
              <a:gd name="GluePoint36Y" fmla="*/ 18288 h 18288"/>
              <a:gd name="GluePoint37X" fmla="*/ 0 w 10972800"/>
              <a:gd name="GluePoint37Y" fmla="*/ 18288 h 18288"/>
              <a:gd name="GluePoint38X" fmla="*/ 0 w 10972800"/>
              <a:gd name="GluePoint38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</a:cxnLst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"/>
          <p:cNvSpPr/>
          <p:nvPr/>
        </p:nvSpPr>
        <p:spPr>
          <a:xfrm>
            <a:off x="685800" y="2057400"/>
            <a:ext cx="1097100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By separating the labels, it becomes easier to identify the tumor’s core and edema (swelling)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 the example below, I have separated out the Labels into their own plots.  This makes it easier to identify the residual brain tumor tissue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red box outlines the residual tumor tissue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1418760" y="4343400"/>
            <a:ext cx="8836920" cy="180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Picture 7" descr="A blue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99520" y="282600"/>
            <a:ext cx="1795680" cy="595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4200" cy="685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72400" y="238680"/>
            <a:ext cx="11013840" cy="112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MR Imaging Modalities Used in Segmentation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ketchy lin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68120" cy="13680"/>
          </a:xfrm>
          <a:custGeom>
            <a:avLst/>
            <a:gdLst>
              <a:gd name="textAreaLeft" fmla="*/ 0 w 10968120"/>
              <a:gd name="textAreaRight" fmla="*/ 10972800 w 10968120"/>
              <a:gd name="textAreaTop" fmla="*/ 0 h 13680"/>
              <a:gd name="textAreaBottom" fmla="*/ 18360 h 13680"/>
              <a:gd name="GluePoint1X" fmla="*/ 0 w 10972800"/>
              <a:gd name="GluePoint1Y" fmla="*/ 0 h 18288"/>
              <a:gd name="GluePoint2X" fmla="*/ 356616 w 10972800"/>
              <a:gd name="GluePoint2Y" fmla="*/ 0 h 18288"/>
              <a:gd name="GluePoint3X" fmla="*/ 1042416 w 10972800"/>
              <a:gd name="GluePoint3Y" fmla="*/ 0 h 18288"/>
              <a:gd name="GluePoint4X" fmla="*/ 1947672 w 10972800"/>
              <a:gd name="GluePoint4Y" fmla="*/ 0 h 18288"/>
              <a:gd name="GluePoint5X" fmla="*/ 2633472 w 10972800"/>
              <a:gd name="GluePoint5Y" fmla="*/ 0 h 18288"/>
              <a:gd name="GluePoint6X" fmla="*/ 2990088 w 10972800"/>
              <a:gd name="GluePoint6Y" fmla="*/ 0 h 18288"/>
              <a:gd name="GluePoint7X" fmla="*/ 3456432 w 10972800"/>
              <a:gd name="GluePoint7Y" fmla="*/ 0 h 18288"/>
              <a:gd name="GluePoint8X" fmla="*/ 4361688 w 10972800"/>
              <a:gd name="GluePoint8Y" fmla="*/ 0 h 18288"/>
              <a:gd name="GluePoint9X" fmla="*/ 5266944 w 10972800"/>
              <a:gd name="GluePoint9Y" fmla="*/ 0 h 18288"/>
              <a:gd name="GluePoint10X" fmla="*/ 6172200 w 10972800"/>
              <a:gd name="GluePoint10Y" fmla="*/ 0 h 18288"/>
              <a:gd name="GluePoint11X" fmla="*/ 6528816 w 10972800"/>
              <a:gd name="GluePoint11Y" fmla="*/ 0 h 18288"/>
              <a:gd name="GluePoint12X" fmla="*/ 7214616 w 10972800"/>
              <a:gd name="GluePoint12Y" fmla="*/ 0 h 18288"/>
              <a:gd name="GluePoint13X" fmla="*/ 7790688 w 10972800"/>
              <a:gd name="GluePoint13Y" fmla="*/ 0 h 18288"/>
              <a:gd name="GluePoint14X" fmla="*/ 8147304 w 10972800"/>
              <a:gd name="GluePoint14Y" fmla="*/ 0 h 18288"/>
              <a:gd name="GluePoint15X" fmla="*/ 9052560 w 10972800"/>
              <a:gd name="GluePoint15Y" fmla="*/ 0 h 18288"/>
              <a:gd name="GluePoint16X" fmla="*/ 9409176 w 10972800"/>
              <a:gd name="GluePoint16Y" fmla="*/ 0 h 18288"/>
              <a:gd name="GluePoint17X" fmla="*/ 9765792 w 10972800"/>
              <a:gd name="GluePoint17Y" fmla="*/ 0 h 18288"/>
              <a:gd name="GluePoint18X" fmla="*/ 10341864 w 10972800"/>
              <a:gd name="GluePoint18Y" fmla="*/ 0 h 18288"/>
              <a:gd name="GluePoint19X" fmla="*/ 10972800 w 10972800"/>
              <a:gd name="GluePoint19Y" fmla="*/ 0 h 18288"/>
              <a:gd name="GluePoint20X" fmla="*/ 10972800 w 10972800"/>
              <a:gd name="GluePoint20Y" fmla="*/ 18288 h 18288"/>
              <a:gd name="GluePoint21X" fmla="*/ 10177272 w 10972800"/>
              <a:gd name="GluePoint21Y" fmla="*/ 18288 h 18288"/>
              <a:gd name="GluePoint22X" fmla="*/ 9820656 w 10972800"/>
              <a:gd name="GluePoint22Y" fmla="*/ 18288 h 18288"/>
              <a:gd name="GluePoint23X" fmla="*/ 9464040 w 10972800"/>
              <a:gd name="GluePoint23Y" fmla="*/ 18288 h 18288"/>
              <a:gd name="GluePoint24X" fmla="*/ 8778240 w 10972800"/>
              <a:gd name="GluePoint24Y" fmla="*/ 18288 h 18288"/>
              <a:gd name="GluePoint25X" fmla="*/ 8421624 w 10972800"/>
              <a:gd name="GluePoint25Y" fmla="*/ 18288 h 18288"/>
              <a:gd name="GluePoint26X" fmla="*/ 7735824 w 10972800"/>
              <a:gd name="GluePoint26Y" fmla="*/ 18288 h 18288"/>
              <a:gd name="GluePoint27X" fmla="*/ 6940296 w 10972800"/>
              <a:gd name="GluePoint27Y" fmla="*/ 18288 h 18288"/>
              <a:gd name="GluePoint28X" fmla="*/ 6254496 w 10972800"/>
              <a:gd name="GluePoint28Y" fmla="*/ 18288 h 18288"/>
              <a:gd name="GluePoint29X" fmla="*/ 5458968 w 10972800"/>
              <a:gd name="GluePoint29Y" fmla="*/ 18288 h 18288"/>
              <a:gd name="GluePoint30X" fmla="*/ 4663440 w 10972800"/>
              <a:gd name="GluePoint30Y" fmla="*/ 18288 h 18288"/>
              <a:gd name="GluePoint31X" fmla="*/ 4306824 w 10972800"/>
              <a:gd name="GluePoint31Y" fmla="*/ 18288 h 18288"/>
              <a:gd name="GluePoint32X" fmla="*/ 3840480 w 10972800"/>
              <a:gd name="GluePoint32Y" fmla="*/ 18288 h 18288"/>
              <a:gd name="GluePoint33X" fmla="*/ 3264408 w 10972800"/>
              <a:gd name="GluePoint33Y" fmla="*/ 18288 h 18288"/>
              <a:gd name="GluePoint34X" fmla="*/ 2578608 w 10972800"/>
              <a:gd name="GluePoint34Y" fmla="*/ 18288 h 18288"/>
              <a:gd name="GluePoint35X" fmla="*/ 1673352 w 10972800"/>
              <a:gd name="GluePoint35Y" fmla="*/ 18288 h 18288"/>
              <a:gd name="GluePoint36X" fmla="*/ 877824 w 10972800"/>
              <a:gd name="GluePoint36Y" fmla="*/ 18288 h 18288"/>
              <a:gd name="GluePoint37X" fmla="*/ 0 w 10972800"/>
              <a:gd name="GluePoint37Y" fmla="*/ 18288 h 18288"/>
              <a:gd name="GluePoint38X" fmla="*/ 0 w 10972800"/>
              <a:gd name="GluePoint38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</a:cxnLst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"/>
          <p:cNvSpPr/>
          <p:nvPr/>
        </p:nvSpPr>
        <p:spPr>
          <a:xfrm>
            <a:off x="685800" y="2057400"/>
            <a:ext cx="109710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MRI segmentation is preformed by comparing the results of different MRI sequences (modalities)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8" name=""/>
          <p:cNvGraphicFramePr/>
          <p:nvPr/>
        </p:nvGraphicFramePr>
        <p:xfrm>
          <a:off x="768600" y="3227040"/>
          <a:ext cx="5075280" cy="1733400"/>
        </p:xfrm>
        <a:graphic>
          <a:graphicData uri="http://schemas.openxmlformats.org/drawingml/2006/table">
            <a:tbl>
              <a:tblPr/>
              <a:tblGrid>
                <a:gridCol w="2553840"/>
                <a:gridCol w="7711560"/>
              </a:tblGrid>
              <a:tr h="32004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SEQUENCE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KEY USE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T1 (Native)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Reveals the structure and composition of various tissue types in the brain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T1ce post-contrast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Similar to T1, but enhanced with a contrast agent which improves the visibility of abnormalities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This modality highlights the fluid content within brain tissue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FLAIR (T2F)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Suppresses the fluid signals, making it easier to identify lesions (tumors) that may not be visible on T1 or T2 images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99" name="Picture 8" descr="A blue and white logo&#10;&#10;Description automatically generated"/>
          <p:cNvPicPr/>
          <p:nvPr/>
        </p:nvPicPr>
        <p:blipFill>
          <a:blip r:embed="rId1"/>
          <a:stretch/>
        </p:blipFill>
        <p:spPr>
          <a:xfrm>
            <a:off x="10199520" y="282600"/>
            <a:ext cx="1795680" cy="595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320"/>
            <a:ext cx="12184200" cy="685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72400" y="238680"/>
            <a:ext cx="11013840" cy="136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Examples of the Modalities and Mask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ketchy lin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68120" cy="13680"/>
          </a:xfrm>
          <a:custGeom>
            <a:avLst/>
            <a:gdLst>
              <a:gd name="textAreaLeft" fmla="*/ 0 w 10968120"/>
              <a:gd name="textAreaRight" fmla="*/ 10972800 w 10968120"/>
              <a:gd name="textAreaTop" fmla="*/ 0 h 13680"/>
              <a:gd name="textAreaBottom" fmla="*/ 18360 h 13680"/>
              <a:gd name="GluePoint1X" fmla="*/ 0 w 10972800"/>
              <a:gd name="GluePoint1Y" fmla="*/ 0 h 18288"/>
              <a:gd name="GluePoint2X" fmla="*/ 356616 w 10972800"/>
              <a:gd name="GluePoint2Y" fmla="*/ 0 h 18288"/>
              <a:gd name="GluePoint3X" fmla="*/ 1042416 w 10972800"/>
              <a:gd name="GluePoint3Y" fmla="*/ 0 h 18288"/>
              <a:gd name="GluePoint4X" fmla="*/ 1947672 w 10972800"/>
              <a:gd name="GluePoint4Y" fmla="*/ 0 h 18288"/>
              <a:gd name="GluePoint5X" fmla="*/ 2633472 w 10972800"/>
              <a:gd name="GluePoint5Y" fmla="*/ 0 h 18288"/>
              <a:gd name="GluePoint6X" fmla="*/ 2990088 w 10972800"/>
              <a:gd name="GluePoint6Y" fmla="*/ 0 h 18288"/>
              <a:gd name="GluePoint7X" fmla="*/ 3456432 w 10972800"/>
              <a:gd name="GluePoint7Y" fmla="*/ 0 h 18288"/>
              <a:gd name="GluePoint8X" fmla="*/ 4361688 w 10972800"/>
              <a:gd name="GluePoint8Y" fmla="*/ 0 h 18288"/>
              <a:gd name="GluePoint9X" fmla="*/ 5266944 w 10972800"/>
              <a:gd name="GluePoint9Y" fmla="*/ 0 h 18288"/>
              <a:gd name="GluePoint10X" fmla="*/ 6172200 w 10972800"/>
              <a:gd name="GluePoint10Y" fmla="*/ 0 h 18288"/>
              <a:gd name="GluePoint11X" fmla="*/ 6528816 w 10972800"/>
              <a:gd name="GluePoint11Y" fmla="*/ 0 h 18288"/>
              <a:gd name="GluePoint12X" fmla="*/ 7214616 w 10972800"/>
              <a:gd name="GluePoint12Y" fmla="*/ 0 h 18288"/>
              <a:gd name="GluePoint13X" fmla="*/ 7790688 w 10972800"/>
              <a:gd name="GluePoint13Y" fmla="*/ 0 h 18288"/>
              <a:gd name="GluePoint14X" fmla="*/ 8147304 w 10972800"/>
              <a:gd name="GluePoint14Y" fmla="*/ 0 h 18288"/>
              <a:gd name="GluePoint15X" fmla="*/ 9052560 w 10972800"/>
              <a:gd name="GluePoint15Y" fmla="*/ 0 h 18288"/>
              <a:gd name="GluePoint16X" fmla="*/ 9409176 w 10972800"/>
              <a:gd name="GluePoint16Y" fmla="*/ 0 h 18288"/>
              <a:gd name="GluePoint17X" fmla="*/ 9765792 w 10972800"/>
              <a:gd name="GluePoint17Y" fmla="*/ 0 h 18288"/>
              <a:gd name="GluePoint18X" fmla="*/ 10341864 w 10972800"/>
              <a:gd name="GluePoint18Y" fmla="*/ 0 h 18288"/>
              <a:gd name="GluePoint19X" fmla="*/ 10972800 w 10972800"/>
              <a:gd name="GluePoint19Y" fmla="*/ 0 h 18288"/>
              <a:gd name="GluePoint20X" fmla="*/ 10972800 w 10972800"/>
              <a:gd name="GluePoint20Y" fmla="*/ 18288 h 18288"/>
              <a:gd name="GluePoint21X" fmla="*/ 10177272 w 10972800"/>
              <a:gd name="GluePoint21Y" fmla="*/ 18288 h 18288"/>
              <a:gd name="GluePoint22X" fmla="*/ 9820656 w 10972800"/>
              <a:gd name="GluePoint22Y" fmla="*/ 18288 h 18288"/>
              <a:gd name="GluePoint23X" fmla="*/ 9464040 w 10972800"/>
              <a:gd name="GluePoint23Y" fmla="*/ 18288 h 18288"/>
              <a:gd name="GluePoint24X" fmla="*/ 8778240 w 10972800"/>
              <a:gd name="GluePoint24Y" fmla="*/ 18288 h 18288"/>
              <a:gd name="GluePoint25X" fmla="*/ 8421624 w 10972800"/>
              <a:gd name="GluePoint25Y" fmla="*/ 18288 h 18288"/>
              <a:gd name="GluePoint26X" fmla="*/ 7735824 w 10972800"/>
              <a:gd name="GluePoint26Y" fmla="*/ 18288 h 18288"/>
              <a:gd name="GluePoint27X" fmla="*/ 6940296 w 10972800"/>
              <a:gd name="GluePoint27Y" fmla="*/ 18288 h 18288"/>
              <a:gd name="GluePoint28X" fmla="*/ 6254496 w 10972800"/>
              <a:gd name="GluePoint28Y" fmla="*/ 18288 h 18288"/>
              <a:gd name="GluePoint29X" fmla="*/ 5458968 w 10972800"/>
              <a:gd name="GluePoint29Y" fmla="*/ 18288 h 18288"/>
              <a:gd name="GluePoint30X" fmla="*/ 4663440 w 10972800"/>
              <a:gd name="GluePoint30Y" fmla="*/ 18288 h 18288"/>
              <a:gd name="GluePoint31X" fmla="*/ 4306824 w 10972800"/>
              <a:gd name="GluePoint31Y" fmla="*/ 18288 h 18288"/>
              <a:gd name="GluePoint32X" fmla="*/ 3840480 w 10972800"/>
              <a:gd name="GluePoint32Y" fmla="*/ 18288 h 18288"/>
              <a:gd name="GluePoint33X" fmla="*/ 3264408 w 10972800"/>
              <a:gd name="GluePoint33Y" fmla="*/ 18288 h 18288"/>
              <a:gd name="GluePoint34X" fmla="*/ 2578608 w 10972800"/>
              <a:gd name="GluePoint34Y" fmla="*/ 18288 h 18288"/>
              <a:gd name="GluePoint35X" fmla="*/ 1673352 w 10972800"/>
              <a:gd name="GluePoint35Y" fmla="*/ 18288 h 18288"/>
              <a:gd name="GluePoint36X" fmla="*/ 877824 w 10972800"/>
              <a:gd name="GluePoint36Y" fmla="*/ 18288 h 18288"/>
              <a:gd name="GluePoint37X" fmla="*/ 0 w 10972800"/>
              <a:gd name="GluePoint37Y" fmla="*/ 18288 h 18288"/>
              <a:gd name="GluePoint38X" fmla="*/ 0 w 10972800"/>
              <a:gd name="GluePoint38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</a:cxnLst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"/>
          <p:cNvSpPr/>
          <p:nvPr/>
        </p:nvSpPr>
        <p:spPr>
          <a:xfrm>
            <a:off x="685800" y="2057400"/>
            <a:ext cx="109710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These images are of the same patient post-treatment for a </a:t>
            </a: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glioma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brain tumor. All of the modalities are summarized in the Mask (segmentation)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371520" y="3200400"/>
            <a:ext cx="11286720" cy="228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Picture 9" descr="A blue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99520" y="282600"/>
            <a:ext cx="1795680" cy="595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680"/>
            <a:ext cx="12184200" cy="685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72400" y="238680"/>
            <a:ext cx="11013840" cy="112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Dataset and Data Preparation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ketchy lin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68120" cy="13680"/>
          </a:xfrm>
          <a:custGeom>
            <a:avLst/>
            <a:gdLst>
              <a:gd name="textAreaLeft" fmla="*/ 0 w 10968120"/>
              <a:gd name="textAreaRight" fmla="*/ 10972800 w 10968120"/>
              <a:gd name="textAreaTop" fmla="*/ 0 h 13680"/>
              <a:gd name="textAreaBottom" fmla="*/ 18360 h 13680"/>
              <a:gd name="GluePoint1X" fmla="*/ 0 w 10972800"/>
              <a:gd name="GluePoint1Y" fmla="*/ 0 h 18288"/>
              <a:gd name="GluePoint2X" fmla="*/ 356616 w 10972800"/>
              <a:gd name="GluePoint2Y" fmla="*/ 0 h 18288"/>
              <a:gd name="GluePoint3X" fmla="*/ 1042416 w 10972800"/>
              <a:gd name="GluePoint3Y" fmla="*/ 0 h 18288"/>
              <a:gd name="GluePoint4X" fmla="*/ 1947672 w 10972800"/>
              <a:gd name="GluePoint4Y" fmla="*/ 0 h 18288"/>
              <a:gd name="GluePoint5X" fmla="*/ 2633472 w 10972800"/>
              <a:gd name="GluePoint5Y" fmla="*/ 0 h 18288"/>
              <a:gd name="GluePoint6X" fmla="*/ 2990088 w 10972800"/>
              <a:gd name="GluePoint6Y" fmla="*/ 0 h 18288"/>
              <a:gd name="GluePoint7X" fmla="*/ 3456432 w 10972800"/>
              <a:gd name="GluePoint7Y" fmla="*/ 0 h 18288"/>
              <a:gd name="GluePoint8X" fmla="*/ 4361688 w 10972800"/>
              <a:gd name="GluePoint8Y" fmla="*/ 0 h 18288"/>
              <a:gd name="GluePoint9X" fmla="*/ 5266944 w 10972800"/>
              <a:gd name="GluePoint9Y" fmla="*/ 0 h 18288"/>
              <a:gd name="GluePoint10X" fmla="*/ 6172200 w 10972800"/>
              <a:gd name="GluePoint10Y" fmla="*/ 0 h 18288"/>
              <a:gd name="GluePoint11X" fmla="*/ 6528816 w 10972800"/>
              <a:gd name="GluePoint11Y" fmla="*/ 0 h 18288"/>
              <a:gd name="GluePoint12X" fmla="*/ 7214616 w 10972800"/>
              <a:gd name="GluePoint12Y" fmla="*/ 0 h 18288"/>
              <a:gd name="GluePoint13X" fmla="*/ 7790688 w 10972800"/>
              <a:gd name="GluePoint13Y" fmla="*/ 0 h 18288"/>
              <a:gd name="GluePoint14X" fmla="*/ 8147304 w 10972800"/>
              <a:gd name="GluePoint14Y" fmla="*/ 0 h 18288"/>
              <a:gd name="GluePoint15X" fmla="*/ 9052560 w 10972800"/>
              <a:gd name="GluePoint15Y" fmla="*/ 0 h 18288"/>
              <a:gd name="GluePoint16X" fmla="*/ 9409176 w 10972800"/>
              <a:gd name="GluePoint16Y" fmla="*/ 0 h 18288"/>
              <a:gd name="GluePoint17X" fmla="*/ 9765792 w 10972800"/>
              <a:gd name="GluePoint17Y" fmla="*/ 0 h 18288"/>
              <a:gd name="GluePoint18X" fmla="*/ 10341864 w 10972800"/>
              <a:gd name="GluePoint18Y" fmla="*/ 0 h 18288"/>
              <a:gd name="GluePoint19X" fmla="*/ 10972800 w 10972800"/>
              <a:gd name="GluePoint19Y" fmla="*/ 0 h 18288"/>
              <a:gd name="GluePoint20X" fmla="*/ 10972800 w 10972800"/>
              <a:gd name="GluePoint20Y" fmla="*/ 18288 h 18288"/>
              <a:gd name="GluePoint21X" fmla="*/ 10177272 w 10972800"/>
              <a:gd name="GluePoint21Y" fmla="*/ 18288 h 18288"/>
              <a:gd name="GluePoint22X" fmla="*/ 9820656 w 10972800"/>
              <a:gd name="GluePoint22Y" fmla="*/ 18288 h 18288"/>
              <a:gd name="GluePoint23X" fmla="*/ 9464040 w 10972800"/>
              <a:gd name="GluePoint23Y" fmla="*/ 18288 h 18288"/>
              <a:gd name="GluePoint24X" fmla="*/ 8778240 w 10972800"/>
              <a:gd name="GluePoint24Y" fmla="*/ 18288 h 18288"/>
              <a:gd name="GluePoint25X" fmla="*/ 8421624 w 10972800"/>
              <a:gd name="GluePoint25Y" fmla="*/ 18288 h 18288"/>
              <a:gd name="GluePoint26X" fmla="*/ 7735824 w 10972800"/>
              <a:gd name="GluePoint26Y" fmla="*/ 18288 h 18288"/>
              <a:gd name="GluePoint27X" fmla="*/ 6940296 w 10972800"/>
              <a:gd name="GluePoint27Y" fmla="*/ 18288 h 18288"/>
              <a:gd name="GluePoint28X" fmla="*/ 6254496 w 10972800"/>
              <a:gd name="GluePoint28Y" fmla="*/ 18288 h 18288"/>
              <a:gd name="GluePoint29X" fmla="*/ 5458968 w 10972800"/>
              <a:gd name="GluePoint29Y" fmla="*/ 18288 h 18288"/>
              <a:gd name="GluePoint30X" fmla="*/ 4663440 w 10972800"/>
              <a:gd name="GluePoint30Y" fmla="*/ 18288 h 18288"/>
              <a:gd name="GluePoint31X" fmla="*/ 4306824 w 10972800"/>
              <a:gd name="GluePoint31Y" fmla="*/ 18288 h 18288"/>
              <a:gd name="GluePoint32X" fmla="*/ 3840480 w 10972800"/>
              <a:gd name="GluePoint32Y" fmla="*/ 18288 h 18288"/>
              <a:gd name="GluePoint33X" fmla="*/ 3264408 w 10972800"/>
              <a:gd name="GluePoint33Y" fmla="*/ 18288 h 18288"/>
              <a:gd name="GluePoint34X" fmla="*/ 2578608 w 10972800"/>
              <a:gd name="GluePoint34Y" fmla="*/ 18288 h 18288"/>
              <a:gd name="GluePoint35X" fmla="*/ 1673352 w 10972800"/>
              <a:gd name="GluePoint35Y" fmla="*/ 18288 h 18288"/>
              <a:gd name="GluePoint36X" fmla="*/ 877824 w 10972800"/>
              <a:gd name="GluePoint36Y" fmla="*/ 18288 h 18288"/>
              <a:gd name="GluePoint37X" fmla="*/ 0 w 10972800"/>
              <a:gd name="GluePoint37Y" fmla="*/ 18288 h 18288"/>
              <a:gd name="GluePoint38X" fmla="*/ 0 w 10972800"/>
              <a:gd name="GluePoint38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</a:cxnLst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9" name="Picture 10" descr="A blue and white logo&#10;&#10;Description automatically generated"/>
          <p:cNvPicPr/>
          <p:nvPr/>
        </p:nvPicPr>
        <p:blipFill>
          <a:blip r:embed="rId1"/>
          <a:stretch/>
        </p:blipFill>
        <p:spPr>
          <a:xfrm>
            <a:off x="10199520" y="282600"/>
            <a:ext cx="1795680" cy="59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PlaceHolder 11"/>
          <p:cNvSpPr/>
          <p:nvPr/>
        </p:nvSpPr>
        <p:spPr>
          <a:xfrm>
            <a:off x="6401520" y="1828800"/>
            <a:ext cx="5257080" cy="43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MRI NifTI volumes used for training are from the BraTS2021 dataset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dataset is comprised of 4 structural modalities (T1, T1c, T2, and T2-FLAIR)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BraTS dataset is a collection of MRI scans of 1,480 patients acquired from multiple institutions under standard clinical conditions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Dataset are already prepared for training or inference.  Images are loaded from the NifTI files and divided into four channels (i.e. T1, T1c, T2, T2F)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2"/>
          <a:stretch/>
        </p:blipFill>
        <p:spPr>
          <a:xfrm>
            <a:off x="549360" y="2017440"/>
            <a:ext cx="5622480" cy="4154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680"/>
            <a:ext cx="12184200" cy="685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572400" y="238680"/>
            <a:ext cx="11013840" cy="112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Model Selection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ketchy lin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400" y="1681560"/>
            <a:ext cx="10968120" cy="13680"/>
          </a:xfrm>
          <a:custGeom>
            <a:avLst/>
            <a:gdLst>
              <a:gd name="textAreaLeft" fmla="*/ 0 w 10968120"/>
              <a:gd name="textAreaRight" fmla="*/ 10972800 w 10968120"/>
              <a:gd name="textAreaTop" fmla="*/ 0 h 13680"/>
              <a:gd name="textAreaBottom" fmla="*/ 18360 h 13680"/>
              <a:gd name="GluePoint1X" fmla="*/ 0 w 10972800"/>
              <a:gd name="GluePoint1Y" fmla="*/ 0 h 18288"/>
              <a:gd name="GluePoint2X" fmla="*/ 356616 w 10972800"/>
              <a:gd name="GluePoint2Y" fmla="*/ 0 h 18288"/>
              <a:gd name="GluePoint3X" fmla="*/ 1042416 w 10972800"/>
              <a:gd name="GluePoint3Y" fmla="*/ 0 h 18288"/>
              <a:gd name="GluePoint4X" fmla="*/ 1947672 w 10972800"/>
              <a:gd name="GluePoint4Y" fmla="*/ 0 h 18288"/>
              <a:gd name="GluePoint5X" fmla="*/ 2633472 w 10972800"/>
              <a:gd name="GluePoint5Y" fmla="*/ 0 h 18288"/>
              <a:gd name="GluePoint6X" fmla="*/ 2990088 w 10972800"/>
              <a:gd name="GluePoint6Y" fmla="*/ 0 h 18288"/>
              <a:gd name="GluePoint7X" fmla="*/ 3456432 w 10972800"/>
              <a:gd name="GluePoint7Y" fmla="*/ 0 h 18288"/>
              <a:gd name="GluePoint8X" fmla="*/ 4361688 w 10972800"/>
              <a:gd name="GluePoint8Y" fmla="*/ 0 h 18288"/>
              <a:gd name="GluePoint9X" fmla="*/ 5266944 w 10972800"/>
              <a:gd name="GluePoint9Y" fmla="*/ 0 h 18288"/>
              <a:gd name="GluePoint10X" fmla="*/ 6172200 w 10972800"/>
              <a:gd name="GluePoint10Y" fmla="*/ 0 h 18288"/>
              <a:gd name="GluePoint11X" fmla="*/ 6528816 w 10972800"/>
              <a:gd name="GluePoint11Y" fmla="*/ 0 h 18288"/>
              <a:gd name="GluePoint12X" fmla="*/ 7214616 w 10972800"/>
              <a:gd name="GluePoint12Y" fmla="*/ 0 h 18288"/>
              <a:gd name="GluePoint13X" fmla="*/ 7790688 w 10972800"/>
              <a:gd name="GluePoint13Y" fmla="*/ 0 h 18288"/>
              <a:gd name="GluePoint14X" fmla="*/ 8147304 w 10972800"/>
              <a:gd name="GluePoint14Y" fmla="*/ 0 h 18288"/>
              <a:gd name="GluePoint15X" fmla="*/ 9052560 w 10972800"/>
              <a:gd name="GluePoint15Y" fmla="*/ 0 h 18288"/>
              <a:gd name="GluePoint16X" fmla="*/ 9409176 w 10972800"/>
              <a:gd name="GluePoint16Y" fmla="*/ 0 h 18288"/>
              <a:gd name="GluePoint17X" fmla="*/ 9765792 w 10972800"/>
              <a:gd name="GluePoint17Y" fmla="*/ 0 h 18288"/>
              <a:gd name="GluePoint18X" fmla="*/ 10341864 w 10972800"/>
              <a:gd name="GluePoint18Y" fmla="*/ 0 h 18288"/>
              <a:gd name="GluePoint19X" fmla="*/ 10972800 w 10972800"/>
              <a:gd name="GluePoint19Y" fmla="*/ 0 h 18288"/>
              <a:gd name="GluePoint20X" fmla="*/ 10972800 w 10972800"/>
              <a:gd name="GluePoint20Y" fmla="*/ 18288 h 18288"/>
              <a:gd name="GluePoint21X" fmla="*/ 10177272 w 10972800"/>
              <a:gd name="GluePoint21Y" fmla="*/ 18288 h 18288"/>
              <a:gd name="GluePoint22X" fmla="*/ 9820656 w 10972800"/>
              <a:gd name="GluePoint22Y" fmla="*/ 18288 h 18288"/>
              <a:gd name="GluePoint23X" fmla="*/ 9464040 w 10972800"/>
              <a:gd name="GluePoint23Y" fmla="*/ 18288 h 18288"/>
              <a:gd name="GluePoint24X" fmla="*/ 8778240 w 10972800"/>
              <a:gd name="GluePoint24Y" fmla="*/ 18288 h 18288"/>
              <a:gd name="GluePoint25X" fmla="*/ 8421624 w 10972800"/>
              <a:gd name="GluePoint25Y" fmla="*/ 18288 h 18288"/>
              <a:gd name="GluePoint26X" fmla="*/ 7735824 w 10972800"/>
              <a:gd name="GluePoint26Y" fmla="*/ 18288 h 18288"/>
              <a:gd name="GluePoint27X" fmla="*/ 6940296 w 10972800"/>
              <a:gd name="GluePoint27Y" fmla="*/ 18288 h 18288"/>
              <a:gd name="GluePoint28X" fmla="*/ 6254496 w 10972800"/>
              <a:gd name="GluePoint28Y" fmla="*/ 18288 h 18288"/>
              <a:gd name="GluePoint29X" fmla="*/ 5458968 w 10972800"/>
              <a:gd name="GluePoint29Y" fmla="*/ 18288 h 18288"/>
              <a:gd name="GluePoint30X" fmla="*/ 4663440 w 10972800"/>
              <a:gd name="GluePoint30Y" fmla="*/ 18288 h 18288"/>
              <a:gd name="GluePoint31X" fmla="*/ 4306824 w 10972800"/>
              <a:gd name="GluePoint31Y" fmla="*/ 18288 h 18288"/>
              <a:gd name="GluePoint32X" fmla="*/ 3840480 w 10972800"/>
              <a:gd name="GluePoint32Y" fmla="*/ 18288 h 18288"/>
              <a:gd name="GluePoint33X" fmla="*/ 3264408 w 10972800"/>
              <a:gd name="GluePoint33Y" fmla="*/ 18288 h 18288"/>
              <a:gd name="GluePoint34X" fmla="*/ 2578608 w 10972800"/>
              <a:gd name="GluePoint34Y" fmla="*/ 18288 h 18288"/>
              <a:gd name="GluePoint35X" fmla="*/ 1673352 w 10972800"/>
              <a:gd name="GluePoint35Y" fmla="*/ 18288 h 18288"/>
              <a:gd name="GluePoint36X" fmla="*/ 877824 w 10972800"/>
              <a:gd name="GluePoint36Y" fmla="*/ 18288 h 18288"/>
              <a:gd name="GluePoint37X" fmla="*/ 0 w 10972800"/>
              <a:gd name="GluePoint37Y" fmla="*/ 18288 h 18288"/>
              <a:gd name="GluePoint38X" fmla="*/ 0 w 10972800"/>
              <a:gd name="GluePoint38Y" fmla="*/ 0 h 182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</a:cxnLst>
            <a:rect l="textAreaLeft" t="textAreaTop" r="textAreaRight" b="textAreaBottom"/>
            <a:pathLst>
              <a:path fill="none" w="10972800" h="18288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stroke="0" w="10972800" h="18288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cap="rnd" w="44450">
            <a:solidFill>
              <a:schemeClr val="accent2">
                <a:alpha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5" name="Picture 11" descr="A blue and white logo&#10;&#10;Description automatically generated"/>
          <p:cNvPicPr/>
          <p:nvPr/>
        </p:nvPicPr>
        <p:blipFill>
          <a:blip r:embed="rId1"/>
          <a:stretch/>
        </p:blipFill>
        <p:spPr>
          <a:xfrm>
            <a:off x="10199520" y="282600"/>
            <a:ext cx="1795680" cy="59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4"/>
          <p:cNvSpPr/>
          <p:nvPr/>
        </p:nvSpPr>
        <p:spPr>
          <a:xfrm>
            <a:off x="457920" y="1970640"/>
            <a:ext cx="5257080" cy="43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5000" lnSpcReduction="19999"/>
          </a:bodyPr>
          <a:p>
            <a:pPr>
              <a:lnSpc>
                <a:spcPct val="100000"/>
              </a:lnSpc>
              <a:spcBef>
                <a:spcPts val="1417"/>
              </a:spcBef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U-Net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model was chosen for this study for the following reasons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Provides excellent segmentation and accuracy for Brain Tumor MRI data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Works well with limited medical datasets; therefor, it should really excel when trained on the BraTS dataset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Efficient training on modern GPUs like the one in my home system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Huge ecosystem and tooling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NnU-Net automation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MONAI support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Numerous examples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2"/>
          <a:stretch/>
        </p:blipFill>
        <p:spPr>
          <a:xfrm>
            <a:off x="6048000" y="2286000"/>
            <a:ext cx="5382000" cy="2732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1076</TotalTime>
  <Application>LibreOffice/25.8.3.2$Linux_X86_64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2024-01-19T13:58:44Z</dcterms:created>
  <dc:creator/>
  <dc:description/>
  <dc:language>en-US</dc:language>
  <cp:lastModifiedBy/>
  <dcterms:modified xsi:type="dcterms:W3CDTF">2026-02-25T04:32:13Z</dcterms:modified>
  <cp:revision>300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8</vt:i4>
  </property>
</Properties>
</file>