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2.jpeg" ContentType="image/jpeg"/>
  <Override PartName="/ppt/media/image4.png" ContentType="image/png"/>
  <Override PartName="/ppt/media/image3.png" ContentType="image/png"/>
  <Override PartName="/ppt/media/image5.png" ContentType="image/png"/>
  <Override PartName="/ppt/media/image9.jpeg" ContentType="image/jpeg"/>
  <Override PartName="/ppt/media/image8.jpeg" ContentType="image/jpeg"/>
  <Override PartName="/ppt/media/image1.png" ContentType="image/png"/>
  <Override PartName="/ppt/media/image6.png" ContentType="image/png"/>
  <Override PartName="/ppt/media/image7.jpeg" ContentType="image/jpeg"/>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8.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3"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4"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5"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C44A86ED-F2A1-41DF-B33C-C2EAF7F30F7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533520" y="764280"/>
            <a:ext cx="6704640" cy="3771360"/>
          </a:xfrm>
          <a:prstGeom prst="rect">
            <a:avLst/>
          </a:prstGeom>
          <a:ln w="0">
            <a:noFill/>
          </a:ln>
        </p:spPr>
      </p:sp>
      <p:sp>
        <p:nvSpPr>
          <p:cNvPr id="16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0" lang="en-US" sz="2000" strike="noStrike" u="none">
                <a:solidFill>
                  <a:srgbClr val="000000"/>
                </a:solidFill>
                <a:effectLst/>
                <a:uFillTx/>
                <a:latin typeface="Arial"/>
              </a:rPr>
              <a:t>The core tumor is actually part of the non-enhancing region of the segmentation.  </a:t>
            </a:r>
            <a:endParaRPr b="0" lang="en-US" sz="2000" strike="noStrike" u="none">
              <a:solidFill>
                <a:srgbClr val="000000"/>
              </a:solidFill>
              <a:effectLst/>
              <a:uFillTx/>
              <a:latin typeface="Arial"/>
            </a:endParaRPr>
          </a:p>
          <a:p>
            <a:pPr marL="216000" indent="0">
              <a:buNone/>
            </a:pP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Without segmentation it may have been missed or incorrectly diagnosed </a:t>
            </a:r>
            <a:endParaRPr b="0" lang="en-US" sz="20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533520" y="764280"/>
            <a:ext cx="6704640" cy="3771360"/>
          </a:xfrm>
          <a:prstGeom prst="rect">
            <a:avLst/>
          </a:prstGeom>
          <a:ln w="0">
            <a:noFill/>
          </a:ln>
        </p:spPr>
      </p:sp>
      <p:sp>
        <p:nvSpPr>
          <p:cNvPr id="16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0" lang="en-US" sz="2000" strike="noStrike" u="none">
                <a:solidFill>
                  <a:srgbClr val="000000"/>
                </a:solidFill>
                <a:effectLst/>
                <a:uFillTx/>
                <a:latin typeface="Arial"/>
              </a:rPr>
              <a:t>The non-enhancing tumor tissue is in blue</a:t>
            </a:r>
            <a:endParaRPr b="0" lang="en-US" sz="2000" strike="noStrike" u="none">
              <a:solidFill>
                <a:srgbClr val="000000"/>
              </a:solidFill>
              <a:effectLst/>
              <a:uFillTx/>
              <a:latin typeface="Arial"/>
            </a:endParaRPr>
          </a:p>
          <a:p>
            <a:pPr marL="216000" indent="0">
              <a:buNone/>
            </a:pP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Yellow indicates necrotic tissue or disruptions in the brain-blood barrier (BBB)</a:t>
            </a:r>
            <a:endParaRPr b="0" lang="en-US" sz="2000" strike="noStrike" u="none">
              <a:solidFill>
                <a:srgbClr val="000000"/>
              </a:solidFill>
              <a:effectLst/>
              <a:uFillTx/>
              <a:latin typeface="Arial"/>
            </a:endParaRPr>
          </a:p>
          <a:p>
            <a:pPr marL="216000" indent="0">
              <a:buNone/>
            </a:pP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I am not sure why Enhancing Tumor class 4 is not displaying correctly in its plot </a:t>
            </a:r>
            <a:endParaRPr b="0" lang="en-US" sz="2000" strike="noStrike" u="none">
              <a:solidFill>
                <a:srgbClr val="000000"/>
              </a:solidFill>
              <a:effectLst/>
              <a:uFillTx/>
              <a:latin typeface="Arial"/>
            </a:endParaRPr>
          </a:p>
          <a:p>
            <a:pPr marL="216000" indent="0">
              <a:buNone/>
            </a:pP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Green is edema or swelling</a:t>
            </a:r>
            <a:endParaRPr b="0" lang="en-US" sz="20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533520" y="764280"/>
            <a:ext cx="6704640" cy="3771360"/>
          </a:xfrm>
          <a:prstGeom prst="rect">
            <a:avLst/>
          </a:prstGeom>
          <a:ln w="0">
            <a:noFill/>
          </a:ln>
        </p:spPr>
      </p:sp>
      <p:sp>
        <p:nvSpPr>
          <p:cNvPr id="16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0" lang="en-US" sz="2000" strike="noStrike" u="none">
                <a:solidFill>
                  <a:srgbClr val="000000"/>
                </a:solidFill>
                <a:effectLst/>
                <a:uFillTx/>
                <a:latin typeface="Arial"/>
              </a:rPr>
              <a:t>  Clinical-grate MR Image data is available in two file formats</a:t>
            </a: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  NifTI (Neuroimaging Informatics Technology Initative) widely used for storing medical and neuroimaging data especially 3D brain images such as MRI and CT scans</a:t>
            </a:r>
            <a:endParaRPr b="0" lang="en-US" sz="2000" strike="noStrike" u="none">
              <a:solidFill>
                <a:srgbClr val="000000"/>
              </a:solidFill>
              <a:effectLst/>
              <a:uFillTx/>
              <a:latin typeface="Arial"/>
            </a:endParaRPr>
          </a:p>
          <a:p>
            <a:pPr marL="216000" indent="-216000">
              <a:buClr>
                <a:srgbClr val="000000"/>
              </a:buClr>
              <a:buSzPct val="45000"/>
              <a:buFont typeface="Wingdings" charset="2"/>
              <a:buChar char=""/>
            </a:pPr>
            <a:r>
              <a:rPr b="0" lang="en-US" sz="2000" strike="noStrike" u="none">
                <a:solidFill>
                  <a:srgbClr val="000000"/>
                </a:solidFill>
                <a:effectLst/>
                <a:uFillTx/>
                <a:latin typeface="Arial"/>
              </a:rPr>
              <a:t>  DICOM (Digital Imaging and Communications in Medicine) is an international standard for storing, exchanging and transmitting medical imaging and related information</a:t>
            </a:r>
            <a:endParaRPr b="0" lang="en-US" sz="2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533520" y="764280"/>
            <a:ext cx="6704640" cy="3771360"/>
          </a:xfrm>
          <a:prstGeom prst="rect">
            <a:avLst/>
          </a:prstGeom>
          <a:ln w="0">
            <a:noFill/>
          </a:ln>
        </p:spPr>
      </p:sp>
      <p:sp>
        <p:nvSpPr>
          <p:cNvPr id="16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0" lang="en-US" sz="2000" strike="noStrike" u="none">
                <a:solidFill>
                  <a:srgbClr val="000000"/>
                </a:solidFill>
                <a:effectLst/>
                <a:uFillTx/>
                <a:latin typeface="Arial"/>
              </a:rPr>
              <a:t>Images used in inference were raw NifTI files without any pre-processing</a:t>
            </a:r>
            <a:endParaRPr b="0" lang="en-US" sz="2000" strike="noStrike" u="none">
              <a:solidFill>
                <a:srgbClr val="000000"/>
              </a:solidFill>
              <a:effectLst/>
              <a:uFillTx/>
              <a:latin typeface="Arial"/>
            </a:endParaRPr>
          </a:p>
          <a:p>
            <a:pPr marL="216000" indent="0">
              <a:buNone/>
            </a:pPr>
            <a:r>
              <a:rPr b="0" lang="en-US" sz="2000" strike="noStrike" u="none">
                <a:solidFill>
                  <a:srgbClr val="000000"/>
                </a:solidFill>
                <a:effectLst/>
                <a:uFillTx/>
                <a:latin typeface="Arial"/>
              </a:rPr>
              <a:t> </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09480" cy="13194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3" name="PlaceHolder 2"/>
          <p:cNvSpPr>
            <a:spLocks noGrp="1"/>
          </p:cNvSpPr>
          <p:nvPr>
            <p:ph type="dt" idx="1"/>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690F3184-955E-41A9-BCE5-675651929F59}"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dt" idx="4"/>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 name="PlaceHolder 2"/>
          <p:cNvSpPr>
            <a:spLocks noGrp="1"/>
          </p:cNvSpPr>
          <p:nvPr>
            <p:ph type="ftr" idx="5"/>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 name="PlaceHolder 3"/>
          <p:cNvSpPr>
            <a:spLocks noGrp="1"/>
          </p:cNvSpPr>
          <p:nvPr>
            <p:ph type="sldNum" idx="6"/>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8CABB161-69E3-40D4-9009-B9E52448A839}"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39880" y="457200"/>
            <a:ext cx="3926160" cy="159408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0" name="PlaceHolder 2"/>
          <p:cNvSpPr>
            <a:spLocks noGrp="1"/>
          </p:cNvSpPr>
          <p:nvPr>
            <p:ph type="body"/>
          </p:nvPr>
        </p:nvSpPr>
        <p:spPr>
          <a:xfrm>
            <a:off x="5183280" y="987480"/>
            <a:ext cx="6166080" cy="4867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11" name="PlaceHolder 3"/>
          <p:cNvSpPr>
            <a:spLocks noGrp="1"/>
          </p:cNvSpPr>
          <p:nvPr>
            <p:ph type="body"/>
          </p:nvPr>
        </p:nvSpPr>
        <p:spPr>
          <a:xfrm>
            <a:off x="839880" y="2057400"/>
            <a:ext cx="3926160" cy="38055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Click to edit Master text styles</a:t>
            </a:r>
            <a:endParaRPr b="0" lang="en-US" sz="1600" strike="noStrike" u="none">
              <a:solidFill>
                <a:srgbClr val="000000"/>
              </a:solidFill>
              <a:effectLst/>
              <a:uFillTx/>
              <a:latin typeface="Arial"/>
            </a:endParaRPr>
          </a:p>
        </p:txBody>
      </p:sp>
      <p:sp>
        <p:nvSpPr>
          <p:cNvPr id="12" name="PlaceHolder 4"/>
          <p:cNvSpPr>
            <a:spLocks noGrp="1"/>
          </p:cNvSpPr>
          <p:nvPr>
            <p:ph type="dt" idx="7"/>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3" name="PlaceHolder 5"/>
          <p:cNvSpPr>
            <a:spLocks noGrp="1"/>
          </p:cNvSpPr>
          <p:nvPr>
            <p:ph type="ftr" idx="8"/>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 name="PlaceHolder 6"/>
          <p:cNvSpPr>
            <a:spLocks noGrp="1"/>
          </p:cNvSpPr>
          <p:nvPr>
            <p:ph type="sldNum" idx="9"/>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16424370-12B5-41FE-AE75-FFFDB826D53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9880" y="457200"/>
            <a:ext cx="3926160" cy="159408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6" name="PlaceHolder 2"/>
          <p:cNvSpPr>
            <a:spLocks noGrp="1"/>
          </p:cNvSpPr>
          <p:nvPr>
            <p:ph type="body"/>
          </p:nvPr>
        </p:nvSpPr>
        <p:spPr>
          <a:xfrm>
            <a:off x="5183280" y="987480"/>
            <a:ext cx="6166080" cy="486756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3200" strike="noStrike" u="none">
                <a:solidFill>
                  <a:schemeClr val="dk1"/>
                </a:solidFill>
                <a:effectLst/>
                <a:uFillTx/>
                <a:latin typeface="Calibri"/>
              </a:rPr>
              <a:t>Click icon to add picture</a:t>
            </a:r>
            <a:endParaRPr b="0" lang="en-US" sz="3200" strike="noStrike" u="none">
              <a:solidFill>
                <a:srgbClr val="000000"/>
              </a:solidFill>
              <a:effectLst/>
              <a:uFillTx/>
              <a:latin typeface="Arial"/>
            </a:endParaRPr>
          </a:p>
        </p:txBody>
      </p:sp>
      <p:sp>
        <p:nvSpPr>
          <p:cNvPr id="17" name="PlaceHolder 3"/>
          <p:cNvSpPr>
            <a:spLocks noGrp="1"/>
          </p:cNvSpPr>
          <p:nvPr>
            <p:ph type="body"/>
          </p:nvPr>
        </p:nvSpPr>
        <p:spPr>
          <a:xfrm>
            <a:off x="839880" y="2057400"/>
            <a:ext cx="3926160" cy="38055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Click to edit Master text styles</a:t>
            </a:r>
            <a:endParaRPr b="0" lang="en-US" sz="1600" strike="noStrike" u="none">
              <a:solidFill>
                <a:srgbClr val="000000"/>
              </a:solidFill>
              <a:effectLst/>
              <a:uFillTx/>
              <a:latin typeface="Arial"/>
            </a:endParaRPr>
          </a:p>
        </p:txBody>
      </p:sp>
      <p:sp>
        <p:nvSpPr>
          <p:cNvPr id="18" name="PlaceHolder 4"/>
          <p:cNvSpPr>
            <a:spLocks noGrp="1"/>
          </p:cNvSpPr>
          <p:nvPr>
            <p:ph type="dt" idx="10"/>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9" name="PlaceHolder 5"/>
          <p:cNvSpPr>
            <a:spLocks noGrp="1"/>
          </p:cNvSpPr>
          <p:nvPr>
            <p:ph type="ftr" idx="11"/>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 name="PlaceHolder 6"/>
          <p:cNvSpPr>
            <a:spLocks noGrp="1"/>
          </p:cNvSpPr>
          <p:nvPr>
            <p:ph type="sldNum" idx="12"/>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0C929839-D7D8-43BE-B707-D6A15BEB232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1523880" y="1122480"/>
            <a:ext cx="9137880" cy="23814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6000" strike="noStrike" u="none">
                <a:solidFill>
                  <a:schemeClr val="dk1"/>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22" name="PlaceHolder 2"/>
          <p:cNvSpPr>
            <a:spLocks noGrp="1"/>
          </p:cNvSpPr>
          <p:nvPr>
            <p:ph type="dt" idx="13"/>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3" name="PlaceHolder 3"/>
          <p:cNvSpPr>
            <a:spLocks noGrp="1"/>
          </p:cNvSpPr>
          <p:nvPr>
            <p:ph type="ftr" idx="14"/>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 name="PlaceHolder 4"/>
          <p:cNvSpPr>
            <a:spLocks noGrp="1"/>
          </p:cNvSpPr>
          <p:nvPr>
            <p:ph type="sldNum" idx="15"/>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868DE7DE-F305-4331-BB42-FE6628565AA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25" name="PlaceHolder 5"/>
          <p:cNvSpPr>
            <a:spLocks noGrp="1"/>
          </p:cNvSpPr>
          <p:nvPr>
            <p:ph type="body"/>
          </p:nvPr>
        </p:nvSpPr>
        <p:spPr>
          <a:xfrm>
            <a:off x="609480" y="1604520"/>
            <a:ext cx="10966680" cy="39715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US"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US"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US"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US"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09480" cy="13194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27" name="PlaceHolder 2"/>
          <p:cNvSpPr>
            <a:spLocks noGrp="1"/>
          </p:cNvSpPr>
          <p:nvPr>
            <p:ph type="body"/>
          </p:nvPr>
        </p:nvSpPr>
        <p:spPr>
          <a:xfrm>
            <a:off x="838080" y="1825560"/>
            <a:ext cx="10509480" cy="43452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28" name="PlaceHolder 3"/>
          <p:cNvSpPr>
            <a:spLocks noGrp="1"/>
          </p:cNvSpPr>
          <p:nvPr>
            <p:ph type="dt" idx="16"/>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9" name="PlaceHolder 4"/>
          <p:cNvSpPr>
            <a:spLocks noGrp="1"/>
          </p:cNvSpPr>
          <p:nvPr>
            <p:ph type="ftr" idx="17"/>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0" name="PlaceHolder 5"/>
          <p:cNvSpPr>
            <a:spLocks noGrp="1"/>
          </p:cNvSpPr>
          <p:nvPr>
            <p:ph type="sldNum" idx="18"/>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BBC40B6-2F04-4DDC-8D0D-422A73DC549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724960" y="365040"/>
            <a:ext cx="2622960" cy="580572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32" name="PlaceHolder 2"/>
          <p:cNvSpPr>
            <a:spLocks noGrp="1"/>
          </p:cNvSpPr>
          <p:nvPr>
            <p:ph type="body"/>
          </p:nvPr>
        </p:nvSpPr>
        <p:spPr>
          <a:xfrm>
            <a:off x="838080" y="365040"/>
            <a:ext cx="7728120" cy="580572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33" name="PlaceHolder 3"/>
          <p:cNvSpPr>
            <a:spLocks noGrp="1"/>
          </p:cNvSpPr>
          <p:nvPr>
            <p:ph type="dt" idx="19"/>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4" name="PlaceHolder 4"/>
          <p:cNvSpPr>
            <a:spLocks noGrp="1"/>
          </p:cNvSpPr>
          <p:nvPr>
            <p:ph type="ftr" idx="20"/>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5" name="PlaceHolder 5"/>
          <p:cNvSpPr>
            <a:spLocks noGrp="1"/>
          </p:cNvSpPr>
          <p:nvPr>
            <p:ph type="sldNum" idx="21"/>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71852B1D-7A87-4B2A-A408-8D995B016B5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09480" cy="13194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37" name="PlaceHolder 2"/>
          <p:cNvSpPr>
            <a:spLocks noGrp="1"/>
          </p:cNvSpPr>
          <p:nvPr>
            <p:ph type="body"/>
          </p:nvPr>
        </p:nvSpPr>
        <p:spPr>
          <a:xfrm>
            <a:off x="838080" y="1825560"/>
            <a:ext cx="10509480" cy="43452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38" name="PlaceHolder 3"/>
          <p:cNvSpPr>
            <a:spLocks noGrp="1"/>
          </p:cNvSpPr>
          <p:nvPr>
            <p:ph type="dt" idx="22"/>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9" name="PlaceHolder 4"/>
          <p:cNvSpPr>
            <a:spLocks noGrp="1"/>
          </p:cNvSpPr>
          <p:nvPr>
            <p:ph type="ftr" idx="23"/>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 name="PlaceHolder 5"/>
          <p:cNvSpPr>
            <a:spLocks noGrp="1"/>
          </p:cNvSpPr>
          <p:nvPr>
            <p:ph type="sldNum" idx="24"/>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094F97A0-A47F-4A4B-8AB4-A3ED0725B73F}"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1960" y="1709640"/>
            <a:ext cx="10509480" cy="28465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trike="noStrike" u="none">
                <a:solidFill>
                  <a:schemeClr val="dk1"/>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42" name="PlaceHolder 2"/>
          <p:cNvSpPr>
            <a:spLocks noGrp="1"/>
          </p:cNvSpPr>
          <p:nvPr>
            <p:ph type="body"/>
          </p:nvPr>
        </p:nvSpPr>
        <p:spPr>
          <a:xfrm>
            <a:off x="831960" y="4589640"/>
            <a:ext cx="10509480" cy="14940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75000"/>
                  </a:schemeClr>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43" name="PlaceHolder 3"/>
          <p:cNvSpPr>
            <a:spLocks noGrp="1"/>
          </p:cNvSpPr>
          <p:nvPr>
            <p:ph type="dt" idx="25"/>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4" name="PlaceHolder 4"/>
          <p:cNvSpPr>
            <a:spLocks noGrp="1"/>
          </p:cNvSpPr>
          <p:nvPr>
            <p:ph type="ftr" idx="26"/>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5" name="PlaceHolder 5"/>
          <p:cNvSpPr>
            <a:spLocks noGrp="1"/>
          </p:cNvSpPr>
          <p:nvPr>
            <p:ph type="sldNum" idx="27"/>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9E1102C-B05D-4900-A952-5E2D7696FD5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09480" cy="13194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47" name="PlaceHolder 2"/>
          <p:cNvSpPr>
            <a:spLocks noGrp="1"/>
          </p:cNvSpPr>
          <p:nvPr>
            <p:ph type="body"/>
          </p:nvPr>
        </p:nvSpPr>
        <p:spPr>
          <a:xfrm>
            <a:off x="838080" y="1825560"/>
            <a:ext cx="5175360" cy="43452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48" name="PlaceHolder 3"/>
          <p:cNvSpPr>
            <a:spLocks noGrp="1"/>
          </p:cNvSpPr>
          <p:nvPr>
            <p:ph type="body"/>
          </p:nvPr>
        </p:nvSpPr>
        <p:spPr>
          <a:xfrm>
            <a:off x="6172200" y="1825560"/>
            <a:ext cx="5175360" cy="43452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49" name="PlaceHolder 4"/>
          <p:cNvSpPr>
            <a:spLocks noGrp="1"/>
          </p:cNvSpPr>
          <p:nvPr>
            <p:ph type="dt" idx="28"/>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0" name="PlaceHolder 5"/>
          <p:cNvSpPr>
            <a:spLocks noGrp="1"/>
          </p:cNvSpPr>
          <p:nvPr>
            <p:ph type="ftr" idx="29"/>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1" name="PlaceHolder 6"/>
          <p:cNvSpPr>
            <a:spLocks noGrp="1"/>
          </p:cNvSpPr>
          <p:nvPr>
            <p:ph type="sldNum" idx="30"/>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E7F88BFB-2D4F-49E8-BE84-1335F938C41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365040"/>
            <a:ext cx="10509480" cy="13194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53" name="PlaceHolder 2"/>
          <p:cNvSpPr>
            <a:spLocks noGrp="1"/>
          </p:cNvSpPr>
          <p:nvPr>
            <p:ph type="body"/>
          </p:nvPr>
        </p:nvSpPr>
        <p:spPr>
          <a:xfrm>
            <a:off x="839880" y="1681200"/>
            <a:ext cx="5151600" cy="8179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54" name="PlaceHolder 3"/>
          <p:cNvSpPr>
            <a:spLocks noGrp="1"/>
          </p:cNvSpPr>
          <p:nvPr>
            <p:ph type="body"/>
          </p:nvPr>
        </p:nvSpPr>
        <p:spPr>
          <a:xfrm>
            <a:off x="839880" y="2505240"/>
            <a:ext cx="5151600" cy="36784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55" name="PlaceHolder 4"/>
          <p:cNvSpPr>
            <a:spLocks noGrp="1"/>
          </p:cNvSpPr>
          <p:nvPr>
            <p:ph type="body"/>
          </p:nvPr>
        </p:nvSpPr>
        <p:spPr>
          <a:xfrm>
            <a:off x="6172200" y="1681200"/>
            <a:ext cx="5177160" cy="8179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56" name="PlaceHolder 5"/>
          <p:cNvSpPr>
            <a:spLocks noGrp="1"/>
          </p:cNvSpPr>
          <p:nvPr>
            <p:ph type="body"/>
          </p:nvPr>
        </p:nvSpPr>
        <p:spPr>
          <a:xfrm>
            <a:off x="6172200" y="2505240"/>
            <a:ext cx="5177160" cy="36784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57" name="PlaceHolder 6"/>
          <p:cNvSpPr>
            <a:spLocks noGrp="1"/>
          </p:cNvSpPr>
          <p:nvPr>
            <p:ph type="dt" idx="31"/>
          </p:nvPr>
        </p:nvSpPr>
        <p:spPr>
          <a:xfrm>
            <a:off x="838080" y="6356520"/>
            <a:ext cx="2737080" cy="3589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8" name="PlaceHolder 7"/>
          <p:cNvSpPr>
            <a:spLocks noGrp="1"/>
          </p:cNvSpPr>
          <p:nvPr>
            <p:ph type="ftr" idx="32"/>
          </p:nvPr>
        </p:nvSpPr>
        <p:spPr>
          <a:xfrm>
            <a:off x="4038480" y="6356520"/>
            <a:ext cx="4108680" cy="3589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8"/>
          <p:cNvSpPr>
            <a:spLocks noGrp="1"/>
          </p:cNvSpPr>
          <p:nvPr>
            <p:ph type="sldNum" idx="33"/>
          </p:nvPr>
        </p:nvSpPr>
        <p:spPr>
          <a:xfrm>
            <a:off x="8610480" y="6356520"/>
            <a:ext cx="2737080" cy="3589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83E2023-78A6-49F4-BAF4-48FFCB3B6139}"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8.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8.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8.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jpeg"/><Relationship Id="rId3"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jpeg"/><Relationship Id="rId3"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jpeg"/><Relationship Id="rId3" Type="http://schemas.openxmlformats.org/officeDocument/2006/relationships/slideLayout" Target="../slideLayouts/slideLayout8.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43000"/>
            <a:ext cx="9137880" cy="22838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4800" strike="noStrike" u="none">
                <a:solidFill>
                  <a:schemeClr val="dk1"/>
                </a:solidFill>
                <a:effectLst/>
                <a:uFillTx/>
                <a:latin typeface="Calibri Light"/>
                <a:ea typeface="Calibri Light"/>
              </a:rPr>
              <a:t>Post-Treatment Brain Tumor Segmentation using MONAI SegResNet Model </a:t>
            </a:r>
            <a:endParaRPr b="0" lang="en-US" sz="4800" strike="noStrike" u="none">
              <a:solidFill>
                <a:srgbClr val="000000"/>
              </a:solidFill>
              <a:effectLst/>
              <a:uFillTx/>
              <a:latin typeface="Arial"/>
            </a:endParaRPr>
          </a:p>
        </p:txBody>
      </p:sp>
      <p:sp>
        <p:nvSpPr>
          <p:cNvPr id="67" name="PlaceHolder 2"/>
          <p:cNvSpPr>
            <a:spLocks noGrp="1"/>
          </p:cNvSpPr>
          <p:nvPr>
            <p:ph type="subTitle"/>
          </p:nvPr>
        </p:nvSpPr>
        <p:spPr>
          <a:xfrm>
            <a:off x="1523880" y="4221360"/>
            <a:ext cx="9137880" cy="14914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b="0" lang="en-US" sz="2400" strike="noStrike" u="none">
                <a:solidFill>
                  <a:schemeClr val="dk1"/>
                </a:solidFill>
                <a:effectLst/>
                <a:uFillTx/>
                <a:latin typeface="Calibri"/>
                <a:ea typeface="Calibri"/>
              </a:rPr>
              <a:t>Author: Wiley Winters</a:t>
            </a:r>
            <a:endParaRPr b="0" lang="en-US" sz="2400" strike="noStrike" u="none">
              <a:solidFill>
                <a:srgbClr val="000000"/>
              </a:solidFill>
              <a:effectLst/>
              <a:uFillTx/>
              <a:latin typeface="Arial"/>
            </a:endParaRPr>
          </a:p>
          <a:p>
            <a:pPr indent="0" algn="ctr" defTabSz="914400">
              <a:lnSpc>
                <a:spcPct val="90000"/>
              </a:lnSpc>
              <a:spcBef>
                <a:spcPts val="1001"/>
              </a:spcBef>
              <a:buNone/>
              <a:tabLst>
                <a:tab algn="l" pos="0"/>
              </a:tabLst>
            </a:pPr>
            <a:r>
              <a:rPr b="0" lang="en-US" sz="2400" strike="noStrike" u="none">
                <a:solidFill>
                  <a:schemeClr val="dk1"/>
                </a:solidFill>
                <a:effectLst/>
                <a:uFillTx/>
                <a:latin typeface="Calibri"/>
                <a:ea typeface="Calibri"/>
              </a:rPr>
              <a:t>Date: 2026-03-08</a:t>
            </a:r>
            <a:endParaRPr b="0" lang="en-US" sz="2400" strike="noStrike" u="none">
              <a:solidFill>
                <a:srgbClr val="000000"/>
              </a:solidFill>
              <a:effectLst/>
              <a:uFillTx/>
              <a:latin typeface="Arial"/>
            </a:endParaRPr>
          </a:p>
          <a:p>
            <a:pPr indent="0" algn="ctr" defTabSz="914400">
              <a:lnSpc>
                <a:spcPct val="90000"/>
              </a:lnSpc>
              <a:spcBef>
                <a:spcPts val="1001"/>
              </a:spcBef>
              <a:buNone/>
              <a:tabLst>
                <a:tab algn="l" pos="0"/>
              </a:tabLst>
            </a:pPr>
            <a:r>
              <a:rPr b="0" lang="en-US" sz="2400" strike="noStrike" u="none">
                <a:solidFill>
                  <a:schemeClr val="dk1"/>
                </a:solidFill>
                <a:effectLst/>
                <a:uFillTx/>
                <a:latin typeface="Calibri"/>
                <a:ea typeface="Calibri"/>
              </a:rPr>
              <a:t>Class: MSDS 692 – Data Science Practicum 1</a:t>
            </a:r>
            <a:endParaRPr b="0" lang="en-US" sz="2400" strike="noStrike" u="none">
              <a:solidFill>
                <a:srgbClr val="000000"/>
              </a:solidFill>
              <a:effectLst/>
              <a:uFillTx/>
              <a:latin typeface="Arial"/>
            </a:endParaRPr>
          </a:p>
        </p:txBody>
      </p:sp>
      <p:pic>
        <p:nvPicPr>
          <p:cNvPr id="68" name="Picture 3" descr="A blue and white logo&#10;&#10;Description automatically generated"/>
          <p:cNvPicPr/>
          <p:nvPr/>
        </p:nvPicPr>
        <p:blipFill>
          <a:blip r:embed="rId1"/>
          <a:stretch/>
        </p:blipFill>
        <p:spPr>
          <a:xfrm>
            <a:off x="10199160" y="28224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572400" y="238680"/>
            <a:ext cx="11012400" cy="90216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4400" strike="noStrike" u="none">
                <a:solidFill>
                  <a:schemeClr val="dk1"/>
                </a:solidFill>
                <a:effectLst/>
                <a:uFillTx/>
                <a:latin typeface="Calibri Light"/>
                <a:ea typeface="Calibri Light"/>
              </a:rPr>
              <a:t>Introduction and Problem Statement</a:t>
            </a:r>
            <a:endParaRPr b="0" lang="en-US" sz="4400" strike="noStrike" u="none">
              <a:solidFill>
                <a:srgbClr val="000000"/>
              </a:solidFill>
              <a:effectLst/>
              <a:uFillTx/>
              <a:latin typeface="Arial"/>
            </a:endParaRPr>
          </a:p>
        </p:txBody>
      </p:sp>
      <p:sp>
        <p:nvSpPr>
          <p:cNvPr id="70" name="sketchy line 2">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71" name=""/>
          <p:cNvSpPr/>
          <p:nvPr/>
        </p:nvSpPr>
        <p:spPr>
          <a:xfrm>
            <a:off x="914400" y="2057400"/>
            <a:ext cx="10283040" cy="41130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Many studies have been conducted on diagnosing brain tumors using various methods.  Not many have been conducted on post-treatment follow up images.</a:t>
            </a:r>
            <a:endParaRPr b="0" lang="en-US" sz="2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The likelihood of tumor regrowth increases significantly if it is not completely removed; therefore, accurately determining if a tumor has been completely removed is critical for developing the rest of the patient’s treatment plan</a:t>
            </a:r>
            <a:endParaRPr b="0" lang="en-US" sz="2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This study will train a MONAI SegResNet model using a BraTS-style MR Image dataset to preform brain tumor segmentation.  After training, the model will be used to segment a post-treatment brain tumor dataset from the Cancer Imaging Archive</a:t>
            </a:r>
            <a:endParaRPr b="0" lang="en-US" sz="2400" strike="noStrike" u="none">
              <a:solidFill>
                <a:srgbClr val="000000"/>
              </a:solidFill>
              <a:effectLst/>
              <a:uFillTx/>
              <a:latin typeface="Arial"/>
            </a:endParaRPr>
          </a:p>
        </p:txBody>
      </p:sp>
      <p:pic>
        <p:nvPicPr>
          <p:cNvPr id="72" name="Picture 1"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73" name="Rectangle 13">
            <a:extLst>
              <a:ext uri="{C183D7F6-B498-43B3-948B-1728B52AA6E4}">
                <adec:decorative xmlns:adec="http://schemas.microsoft.com/office/drawing/2017/decorative" val="1"/>
              </a:ext>
            </a:extLst>
          </p:cNvPr>
          <p:cNvSpPr/>
          <p:nvPr/>
        </p:nvSpPr>
        <p:spPr>
          <a:xfrm>
            <a:off x="15696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74" name="PlaceHolder 1"/>
          <p:cNvSpPr>
            <a:spLocks noGrp="1"/>
          </p:cNvSpPr>
          <p:nvPr>
            <p:ph type="title"/>
          </p:nvPr>
        </p:nvSpPr>
        <p:spPr>
          <a:xfrm>
            <a:off x="572400" y="238680"/>
            <a:ext cx="11012400" cy="119808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5400" strike="noStrike" u="none">
                <a:solidFill>
                  <a:schemeClr val="dk1"/>
                </a:solidFill>
                <a:effectLst/>
                <a:uFillTx/>
                <a:latin typeface="Calibri Light"/>
                <a:ea typeface="Calibri Light"/>
              </a:rPr>
              <a:t>Background Information</a:t>
            </a:r>
            <a:endParaRPr b="0" lang="en-US" sz="5400" strike="noStrike" u="none">
              <a:solidFill>
                <a:srgbClr val="000000"/>
              </a:solidFill>
              <a:effectLst/>
              <a:uFillTx/>
              <a:latin typeface="Arial"/>
            </a:endParaRPr>
          </a:p>
        </p:txBody>
      </p:sp>
      <p:sp>
        <p:nvSpPr>
          <p:cNvPr id="75" name="sketchy line">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76" name="PlaceHolder 2"/>
          <p:cNvSpPr>
            <a:spLocks noGrp="1"/>
          </p:cNvSpPr>
          <p:nvPr>
            <p:ph/>
          </p:nvPr>
        </p:nvSpPr>
        <p:spPr>
          <a:xfrm>
            <a:off x="685800" y="1829520"/>
            <a:ext cx="10853640" cy="2969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400" strike="noStrike" u="none">
                <a:solidFill>
                  <a:schemeClr val="dk1"/>
                </a:solidFill>
                <a:effectLst/>
                <a:uFillTx/>
                <a:latin typeface="Arial"/>
                <a:ea typeface="Calibri"/>
              </a:rPr>
              <a:t>In this part of the presentation I will provide background information on the following:</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Arial"/>
                <a:ea typeface="Calibri"/>
              </a:rPr>
              <a:t>What is segmentation</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Arial"/>
                <a:ea typeface="Calibri"/>
              </a:rPr>
              <a:t>Examples of segmentation</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Arial"/>
                <a:ea typeface="Calibri"/>
              </a:rPr>
              <a:t>Example of how segmentation can identify core tumor tissue</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Arial"/>
                <a:ea typeface="Calibri"/>
              </a:rPr>
              <a:t>Information about the different modalities used in MR Images</a:t>
            </a:r>
            <a:endParaRPr b="0" lang="en-US" sz="2400" strike="noStrike" u="none">
              <a:solidFill>
                <a:srgbClr val="000000"/>
              </a:solidFill>
              <a:effectLst/>
              <a:uFillTx/>
              <a:latin typeface="Arial"/>
            </a:endParaRPr>
          </a:p>
        </p:txBody>
      </p:sp>
      <p:pic>
        <p:nvPicPr>
          <p:cNvPr id="77" name="Picture 2"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78" name="Rectangle 2">
            <a:extLst>
              <a:ext uri="{C183D7F6-B498-43B3-948B-1728B52AA6E4}">
                <adec:decorative xmlns:adec="http://schemas.microsoft.com/office/drawing/2017/decorative" val="1"/>
              </a:ext>
            </a:extLst>
          </p:cNvPr>
          <p:cNvSpPr/>
          <p:nvPr/>
        </p:nvSpPr>
        <p:spPr>
          <a:xfrm>
            <a:off x="15696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79" name="PlaceHolder 1"/>
          <p:cNvSpPr>
            <a:spLocks noGrp="1"/>
          </p:cNvSpPr>
          <p:nvPr>
            <p:ph type="title"/>
          </p:nvPr>
        </p:nvSpPr>
        <p:spPr>
          <a:xfrm>
            <a:off x="572400" y="238680"/>
            <a:ext cx="11012400" cy="119808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5400" strike="noStrike" u="none">
                <a:solidFill>
                  <a:schemeClr val="dk1"/>
                </a:solidFill>
                <a:effectLst/>
                <a:uFillTx/>
                <a:latin typeface="Calibri Light"/>
                <a:ea typeface="Calibri Light"/>
              </a:rPr>
              <a:t>What is Segmentation</a:t>
            </a:r>
            <a:endParaRPr b="0" lang="en-US" sz="5400" strike="noStrike" u="none">
              <a:solidFill>
                <a:srgbClr val="000000"/>
              </a:solidFill>
              <a:effectLst/>
              <a:uFillTx/>
              <a:latin typeface="Arial"/>
            </a:endParaRPr>
          </a:p>
        </p:txBody>
      </p:sp>
      <p:sp>
        <p:nvSpPr>
          <p:cNvPr id="80" name="sketchy line 3">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81" name="PlaceHolder 2"/>
          <p:cNvSpPr>
            <a:spLocks noGrp="1"/>
          </p:cNvSpPr>
          <p:nvPr>
            <p:ph/>
          </p:nvPr>
        </p:nvSpPr>
        <p:spPr>
          <a:xfrm>
            <a:off x="685800" y="1829520"/>
            <a:ext cx="10853640" cy="41119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Arial"/>
                <a:ea typeface="Calibri"/>
              </a:rPr>
              <a:t>When segmentation is applied to a brain </a:t>
            </a:r>
            <a:r>
              <a:rPr b="0" lang="en-US" sz="2400" strike="noStrike" u="none">
                <a:solidFill>
                  <a:schemeClr val="dk1"/>
                </a:solidFill>
                <a:effectLst/>
                <a:uFillTx/>
                <a:latin typeface="Arial"/>
                <a:ea typeface="Calibri"/>
              </a:rPr>
              <a:t>tumor MR Image it identifies the boundaries </a:t>
            </a:r>
            <a:r>
              <a:rPr b="0" lang="en-US" sz="2400" strike="noStrike" u="none">
                <a:solidFill>
                  <a:schemeClr val="dk1"/>
                </a:solidFill>
                <a:effectLst/>
                <a:uFillTx/>
                <a:latin typeface="Arial"/>
                <a:ea typeface="Calibri"/>
              </a:rPr>
              <a:t>of the tumor regions within the brain scan</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2400" strike="noStrike" u="none">
                <a:solidFill>
                  <a:schemeClr val="dk1"/>
                </a:solidFill>
                <a:effectLst/>
                <a:uFillTx/>
                <a:latin typeface="Arial"/>
                <a:ea typeface="Calibri"/>
              </a:rPr>
              <a:t>These boundaries are divided into masks </a:t>
            </a:r>
            <a:r>
              <a:rPr b="0" lang="en-US" sz="2400" strike="noStrike" u="none">
                <a:solidFill>
                  <a:schemeClr val="dk1"/>
                </a:solidFill>
                <a:effectLst/>
                <a:uFillTx/>
                <a:latin typeface="Arial"/>
                <a:ea typeface="Calibri"/>
              </a:rPr>
              <a:t>and assigned a label</a:t>
            </a:r>
            <a:endParaRPr b="0" lang="en-US" sz="24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2400" strike="noStrike" u="none">
                <a:solidFill>
                  <a:schemeClr val="dk1"/>
                </a:solidFill>
                <a:effectLst/>
                <a:uFillTx/>
                <a:latin typeface="Arial"/>
                <a:ea typeface="Calibri"/>
              </a:rPr>
              <a:t>Label 0 – normal brain tissue (non-</a:t>
            </a:r>
            <a:r>
              <a:rPr b="0" lang="en-US" sz="2400" strike="noStrike" u="none">
                <a:solidFill>
                  <a:schemeClr val="dk1"/>
                </a:solidFill>
                <a:effectLst/>
                <a:uFillTx/>
                <a:latin typeface="Arial"/>
                <a:ea typeface="Calibri"/>
              </a:rPr>
              <a:t>tumor/background)</a:t>
            </a:r>
            <a:endParaRPr b="0" lang="en-US" sz="24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2400" strike="noStrike" u="none">
                <a:solidFill>
                  <a:schemeClr val="dk1"/>
                </a:solidFill>
                <a:effectLst/>
                <a:uFillTx/>
                <a:latin typeface="Arial"/>
                <a:ea typeface="Calibri"/>
              </a:rPr>
              <a:t>Label 1 – necrotic/non-enhancing </a:t>
            </a:r>
            <a:r>
              <a:rPr b="0" lang="en-US" sz="2400" strike="noStrike" u="none">
                <a:solidFill>
                  <a:schemeClr val="dk1"/>
                </a:solidFill>
                <a:effectLst/>
                <a:uFillTx/>
                <a:latin typeface="Arial"/>
                <a:ea typeface="Calibri"/>
              </a:rPr>
              <a:t>tumor core (NCR/NET)</a:t>
            </a:r>
            <a:endParaRPr b="0" lang="en-US" sz="24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2400" strike="noStrike" u="none">
                <a:solidFill>
                  <a:schemeClr val="dk1"/>
                </a:solidFill>
                <a:effectLst/>
                <a:uFillTx/>
                <a:latin typeface="Arial"/>
                <a:ea typeface="Calibri"/>
              </a:rPr>
              <a:t>Label 2 – edema (ED)</a:t>
            </a:r>
            <a:endParaRPr b="0" lang="en-US" sz="24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2400" strike="noStrike" u="none">
                <a:solidFill>
                  <a:schemeClr val="dk1"/>
                </a:solidFill>
                <a:effectLst/>
                <a:uFillTx/>
                <a:latin typeface="Arial"/>
                <a:ea typeface="Calibri"/>
              </a:rPr>
              <a:t>Label 3 – is not used to avoid </a:t>
            </a:r>
            <a:r>
              <a:rPr b="0" lang="en-US" sz="2400" strike="noStrike" u="none">
                <a:solidFill>
                  <a:schemeClr val="dk1"/>
                </a:solidFill>
                <a:effectLst/>
                <a:uFillTx/>
                <a:latin typeface="Arial"/>
                <a:ea typeface="Calibri"/>
              </a:rPr>
              <a:t>confusion with binary encoders</a:t>
            </a:r>
            <a:endParaRPr b="0" lang="en-US" sz="24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2400" strike="noStrike" u="none">
                <a:solidFill>
                  <a:schemeClr val="dk1"/>
                </a:solidFill>
                <a:effectLst/>
                <a:uFillTx/>
                <a:latin typeface="Arial"/>
                <a:ea typeface="Calibri"/>
              </a:rPr>
              <a:t>Label 4 – enhancing tumor (ET)</a:t>
            </a:r>
            <a:endParaRPr b="0" lang="en-US" sz="2400" strike="noStrike" u="none">
              <a:solidFill>
                <a:srgbClr val="000000"/>
              </a:solidFill>
              <a:effectLst/>
              <a:uFillTx/>
              <a:latin typeface="Arial"/>
            </a:endParaRPr>
          </a:p>
        </p:txBody>
      </p:sp>
      <p:pic>
        <p:nvPicPr>
          <p:cNvPr id="82" name="Picture 4"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3" name="Rectangle 3">
            <a:extLst>
              <a:ext uri="{C183D7F6-B498-43B3-948B-1728B52AA6E4}">
                <adec:decorative xmlns:adec="http://schemas.microsoft.com/office/drawing/2017/decorative" val="1"/>
              </a:ext>
            </a:extLst>
          </p:cNvPr>
          <p:cNvSpPr/>
          <p:nvPr/>
        </p:nvSpPr>
        <p:spPr>
          <a:xfrm>
            <a:off x="15696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84" name="PlaceHolder 1"/>
          <p:cNvSpPr>
            <a:spLocks noGrp="1"/>
          </p:cNvSpPr>
          <p:nvPr>
            <p:ph type="title"/>
          </p:nvPr>
        </p:nvSpPr>
        <p:spPr>
          <a:xfrm>
            <a:off x="572400" y="238680"/>
            <a:ext cx="11012400" cy="119808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5400" strike="noStrike" u="none">
                <a:solidFill>
                  <a:schemeClr val="dk1"/>
                </a:solidFill>
                <a:effectLst/>
                <a:uFillTx/>
                <a:latin typeface="Calibri Light"/>
                <a:ea typeface="Calibri Light"/>
              </a:rPr>
              <a:t>What Segmentation Provides</a:t>
            </a:r>
            <a:endParaRPr b="0" lang="en-US" sz="5400" strike="noStrike" u="none">
              <a:solidFill>
                <a:srgbClr val="000000"/>
              </a:solidFill>
              <a:effectLst/>
              <a:uFillTx/>
              <a:latin typeface="Arial"/>
            </a:endParaRPr>
          </a:p>
        </p:txBody>
      </p:sp>
      <p:sp>
        <p:nvSpPr>
          <p:cNvPr id="85" name="sketchy line 4">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86" name="PlaceHolder 2"/>
          <p:cNvSpPr>
            <a:spLocks noGrp="1"/>
          </p:cNvSpPr>
          <p:nvPr>
            <p:ph/>
          </p:nvPr>
        </p:nvSpPr>
        <p:spPr>
          <a:xfrm>
            <a:off x="685800" y="1829520"/>
            <a:ext cx="10853640" cy="4111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400" strike="noStrike" u="none">
                <a:solidFill>
                  <a:schemeClr val="dk1"/>
                </a:solidFill>
                <a:effectLst/>
                <a:uFillTx/>
                <a:latin typeface="Arial"/>
                <a:ea typeface="Calibri"/>
              </a:rPr>
              <a:t>Segmentation provides the following:</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en-US" sz="2400" strike="noStrike" u="none">
                <a:solidFill>
                  <a:schemeClr val="dk1"/>
                </a:solidFill>
                <a:effectLst/>
                <a:uFillTx/>
                <a:latin typeface="Arial"/>
                <a:ea typeface="Calibri"/>
              </a:rPr>
              <a:t>Location</a:t>
            </a:r>
            <a:r>
              <a:rPr b="0" lang="en-US" sz="2400" strike="noStrike" u="none">
                <a:solidFill>
                  <a:schemeClr val="dk1"/>
                </a:solidFill>
                <a:effectLst/>
                <a:uFillTx/>
                <a:latin typeface="Arial"/>
                <a:ea typeface="Calibri"/>
              </a:rPr>
              <a:t>: Identifies exact location of the brain tumor</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en-US" sz="2400" strike="noStrike" u="none">
                <a:solidFill>
                  <a:schemeClr val="dk1"/>
                </a:solidFill>
                <a:effectLst/>
                <a:uFillTx/>
                <a:latin typeface="Arial"/>
                <a:ea typeface="Calibri"/>
              </a:rPr>
              <a:t>Size and Shape</a:t>
            </a:r>
            <a:r>
              <a:rPr b="0" lang="en-US" sz="2400" strike="noStrike" u="none">
                <a:solidFill>
                  <a:schemeClr val="dk1"/>
                </a:solidFill>
                <a:effectLst/>
                <a:uFillTx/>
                <a:latin typeface="Arial"/>
                <a:ea typeface="Calibri"/>
              </a:rPr>
              <a:t>: Measures the tumor’s dimensions and form</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en-US" sz="2400" strike="noStrike" u="none">
                <a:solidFill>
                  <a:schemeClr val="dk1"/>
                </a:solidFill>
                <a:effectLst/>
                <a:uFillTx/>
                <a:latin typeface="Arial"/>
                <a:ea typeface="Calibri"/>
              </a:rPr>
              <a:t>Heterogeneity</a:t>
            </a:r>
            <a:r>
              <a:rPr b="0" lang="en-US" sz="2400" strike="noStrike" u="none">
                <a:solidFill>
                  <a:schemeClr val="dk1"/>
                </a:solidFill>
                <a:effectLst/>
                <a:uFillTx/>
                <a:latin typeface="Arial"/>
                <a:ea typeface="Calibri"/>
              </a:rPr>
              <a:t>: Reveals different components within the tumor (e.g. solid tissue, necrotic areas)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en-US" sz="2400" strike="noStrike" u="none">
                <a:solidFill>
                  <a:schemeClr val="dk1"/>
                </a:solidFill>
                <a:effectLst/>
                <a:uFillTx/>
                <a:latin typeface="Arial"/>
                <a:ea typeface="Calibri"/>
              </a:rPr>
              <a:t>Surrounding Tissue Involvement</a:t>
            </a:r>
            <a:r>
              <a:rPr b="0" lang="en-US" sz="2400" strike="noStrike" u="none">
                <a:solidFill>
                  <a:schemeClr val="dk1"/>
                </a:solidFill>
                <a:effectLst/>
                <a:uFillTx/>
                <a:latin typeface="Arial"/>
                <a:ea typeface="Calibri"/>
              </a:rPr>
              <a:t>: Shows how the tumor interacts with adjacent brain structures</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en-US" sz="2400" strike="noStrike" u="none">
                <a:solidFill>
                  <a:schemeClr val="dk1"/>
                </a:solidFill>
                <a:effectLst/>
                <a:uFillTx/>
                <a:latin typeface="Arial"/>
                <a:ea typeface="Calibri"/>
              </a:rPr>
              <a:t>Cross-Modality Comparison</a:t>
            </a:r>
            <a:r>
              <a:rPr b="0" lang="en-US" sz="2400" strike="noStrike" u="none">
                <a:solidFill>
                  <a:schemeClr val="dk1"/>
                </a:solidFill>
                <a:effectLst/>
                <a:uFillTx/>
                <a:latin typeface="Arial"/>
                <a:ea typeface="Calibri"/>
              </a:rPr>
              <a:t>: Provides a comprehensive view by comparing different imaging modalities</a:t>
            </a:r>
            <a:endParaRPr b="0" lang="en-US" sz="2400" strike="noStrike" u="none">
              <a:solidFill>
                <a:srgbClr val="000000"/>
              </a:solidFill>
              <a:effectLst/>
              <a:uFillTx/>
              <a:latin typeface="Arial"/>
            </a:endParaRPr>
          </a:p>
        </p:txBody>
      </p:sp>
      <p:pic>
        <p:nvPicPr>
          <p:cNvPr id="87" name="Picture 5"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8" name="Rectangle 13">
            <a:extLst>
              <a:ext uri="{C183D7F6-B498-43B3-948B-1728B52AA6E4}">
                <adec:decorative xmlns:adec="http://schemas.microsoft.com/office/drawing/2017/decorative" val="1"/>
              </a:ext>
            </a:extLst>
          </p:cNvPr>
          <p:cNvSpPr/>
          <p:nvPr/>
        </p:nvSpPr>
        <p:spPr>
          <a:xfrm>
            <a:off x="360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9" name="PlaceHolder 1"/>
          <p:cNvSpPr>
            <a:spLocks noGrp="1"/>
          </p:cNvSpPr>
          <p:nvPr>
            <p:ph type="title"/>
          </p:nvPr>
        </p:nvSpPr>
        <p:spPr>
          <a:xfrm>
            <a:off x="572400" y="238680"/>
            <a:ext cx="11012400" cy="135972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Visualization of Brain Tumor Segmentation</a:t>
            </a:r>
            <a:endParaRPr b="0" lang="en-US" sz="4400" strike="noStrike" u="none">
              <a:solidFill>
                <a:srgbClr val="000000"/>
              </a:solidFill>
              <a:effectLst/>
              <a:uFillTx/>
              <a:latin typeface="Arial"/>
            </a:endParaRPr>
          </a:p>
        </p:txBody>
      </p:sp>
      <p:sp>
        <p:nvSpPr>
          <p:cNvPr id="90" name="sketchy line">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1" name="PlaceHolder 2"/>
          <p:cNvSpPr>
            <a:spLocks noGrp="1"/>
          </p:cNvSpPr>
          <p:nvPr>
            <p:ph/>
          </p:nvPr>
        </p:nvSpPr>
        <p:spPr>
          <a:xfrm>
            <a:off x="228600" y="2057400"/>
            <a:ext cx="5486040" cy="4343040"/>
          </a:xfrm>
          <a:prstGeom prst="rect">
            <a:avLst/>
          </a:prstGeom>
          <a:noFill/>
          <a:ln w="0">
            <a:noFill/>
          </a:ln>
        </p:spPr>
        <p:txBody>
          <a:bodyPr lIns="91440" rIns="91440" tIns="45720" bIns="4572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Left image is an MRI slice with contrast agent (T1ce)</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Right image is the same slice with segmentation applied.</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The large purple area is normal brain tissue</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Non-enhanced tumor core (NET) is in blue</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Yellow is necrotic tissue and interruptions to the brain-blood barrier</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Green is edema (swelling)</a:t>
            </a:r>
            <a:endParaRPr b="0" lang="en-US" sz="2400" strike="noStrike" u="none">
              <a:solidFill>
                <a:srgbClr val="000000"/>
              </a:solidFill>
              <a:effectLst/>
              <a:uFillTx/>
              <a:latin typeface="Arial"/>
            </a:endParaRPr>
          </a:p>
        </p:txBody>
      </p:sp>
      <p:pic>
        <p:nvPicPr>
          <p:cNvPr id="92" name="Picture 6" descr="A blue and white logo&#10;&#10;Description automatically generated"/>
          <p:cNvPicPr/>
          <p:nvPr/>
        </p:nvPicPr>
        <p:blipFill>
          <a:blip r:embed="rId1"/>
          <a:stretch/>
        </p:blipFill>
        <p:spPr>
          <a:xfrm>
            <a:off x="10199520" y="282600"/>
            <a:ext cx="1794240" cy="594000"/>
          </a:xfrm>
          <a:prstGeom prst="rect">
            <a:avLst/>
          </a:prstGeom>
          <a:noFill/>
          <a:ln w="0">
            <a:noFill/>
          </a:ln>
        </p:spPr>
      </p:pic>
      <p:pic>
        <p:nvPicPr>
          <p:cNvPr id="93" name="" descr=""/>
          <p:cNvPicPr/>
          <p:nvPr/>
        </p:nvPicPr>
        <p:blipFill>
          <a:blip r:embed="rId2"/>
          <a:stretch/>
        </p:blipFill>
        <p:spPr>
          <a:xfrm>
            <a:off x="5715000" y="2514600"/>
            <a:ext cx="6171840" cy="3149640"/>
          </a:xfrm>
          <a:prstGeom prst="rect">
            <a:avLst/>
          </a:prstGeom>
          <a:noFill/>
          <a:ln w="0">
            <a:noFill/>
          </a:ln>
        </p:spPr>
      </p:pic>
      <p:sp>
        <p:nvSpPr>
          <p:cNvPr id="94" name=""/>
          <p:cNvSpPr/>
          <p:nvPr/>
        </p:nvSpPr>
        <p:spPr>
          <a:xfrm>
            <a:off x="6629400" y="5943600"/>
            <a:ext cx="4114440" cy="456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800" strike="noStrike" u="none">
                <a:solidFill>
                  <a:srgbClr val="000000"/>
                </a:solidFill>
                <a:effectLst/>
                <a:uFillTx/>
                <a:latin typeface="Arial"/>
              </a:rPr>
              <a:t>Image is from post-treatment dataset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5" name="Rectangle 1">
            <a:extLst>
              <a:ext uri="{C183D7F6-B498-43B3-948B-1728B52AA6E4}">
                <adec:decorative xmlns:adec="http://schemas.microsoft.com/office/drawing/2017/decorative" val="1"/>
              </a:ext>
            </a:extLst>
          </p:cNvPr>
          <p:cNvSpPr/>
          <p:nvPr/>
        </p:nvSpPr>
        <p:spPr>
          <a:xfrm>
            <a:off x="360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96" name="PlaceHolder 1"/>
          <p:cNvSpPr>
            <a:spLocks noGrp="1"/>
          </p:cNvSpPr>
          <p:nvPr>
            <p:ph type="title"/>
          </p:nvPr>
        </p:nvSpPr>
        <p:spPr>
          <a:xfrm>
            <a:off x="572400" y="238680"/>
            <a:ext cx="11012400" cy="135972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Brain Tumor Segmentation by Label</a:t>
            </a:r>
            <a:endParaRPr b="0" lang="en-US" sz="4400" strike="noStrike" u="none">
              <a:solidFill>
                <a:srgbClr val="000000"/>
              </a:solidFill>
              <a:effectLst/>
              <a:uFillTx/>
              <a:latin typeface="Arial"/>
            </a:endParaRPr>
          </a:p>
        </p:txBody>
      </p:sp>
      <p:sp>
        <p:nvSpPr>
          <p:cNvPr id="97" name="sketchy line 1">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98" name=""/>
          <p:cNvSpPr/>
          <p:nvPr/>
        </p:nvSpPr>
        <p:spPr>
          <a:xfrm>
            <a:off x="685800" y="2057400"/>
            <a:ext cx="10969560" cy="19184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By separating the labels, it becomes easier to identify the tumor’s core and edema (swelling)</a:t>
            </a:r>
            <a:endParaRPr b="0" lang="en-US" sz="2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In the example below, I have separated out the Labels into their own plots.  This makes it easier to identify the residual brain tumor tissue</a:t>
            </a:r>
            <a:endParaRPr b="0" lang="en-US" sz="2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rPr>
              <a:t>The red box outlines the residual (non-enhancing) tumor material</a:t>
            </a:r>
            <a:endParaRPr b="0" lang="en-US" sz="2400" strike="noStrike" u="none">
              <a:solidFill>
                <a:srgbClr val="000000"/>
              </a:solidFill>
              <a:effectLst/>
              <a:uFillTx/>
              <a:latin typeface="Arial"/>
            </a:endParaRPr>
          </a:p>
        </p:txBody>
      </p:sp>
      <p:pic>
        <p:nvPicPr>
          <p:cNvPr id="99" name="" descr=""/>
          <p:cNvPicPr/>
          <p:nvPr/>
        </p:nvPicPr>
        <p:blipFill>
          <a:blip r:embed="rId1"/>
          <a:stretch/>
        </p:blipFill>
        <p:spPr>
          <a:xfrm>
            <a:off x="1418760" y="4343400"/>
            <a:ext cx="8835480" cy="1806840"/>
          </a:xfrm>
          <a:prstGeom prst="rect">
            <a:avLst/>
          </a:prstGeom>
          <a:noFill/>
          <a:ln w="0">
            <a:noFill/>
          </a:ln>
        </p:spPr>
      </p:pic>
      <p:pic>
        <p:nvPicPr>
          <p:cNvPr id="100" name="Picture 7" descr="A blue and white logo&#10;&#10;Description automatically generated"/>
          <p:cNvPicPr/>
          <p:nvPr/>
        </p:nvPicPr>
        <p:blipFill>
          <a:blip r:embed="rId2"/>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1" name="Rectangle 4">
            <a:extLst>
              <a:ext uri="{C183D7F6-B498-43B3-948B-1728B52AA6E4}">
                <adec:decorative xmlns:adec="http://schemas.microsoft.com/office/drawing/2017/decorative" val="1"/>
              </a:ext>
            </a:extLst>
          </p:cNvPr>
          <p:cNvSpPr/>
          <p:nvPr/>
        </p:nvSpPr>
        <p:spPr>
          <a:xfrm>
            <a:off x="0" y="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02" name="PlaceHolder 1"/>
          <p:cNvSpPr>
            <a:spLocks noGrp="1"/>
          </p:cNvSpPr>
          <p:nvPr>
            <p:ph type="title"/>
          </p:nvPr>
        </p:nvSpPr>
        <p:spPr>
          <a:xfrm>
            <a:off x="572400" y="238680"/>
            <a:ext cx="11012400" cy="1127160"/>
          </a:xfrm>
          <a:prstGeom prst="rect">
            <a:avLst/>
          </a:prstGeom>
          <a:noFill/>
          <a:ln w="0">
            <a:noFill/>
          </a:ln>
        </p:spPr>
        <p:txBody>
          <a:bodyPr lIns="91440" rIns="91440" tIns="45720" bIns="45720" anchor="b">
            <a:normAutofit fontScale="92500" lnSpcReduction="9999"/>
          </a:bodyPr>
          <a:p>
            <a:pPr indent="0" algn="ctr">
              <a:lnSpc>
                <a:spcPct val="100000"/>
              </a:lnSpc>
              <a:buNone/>
              <a:tabLst>
                <a:tab algn="l" pos="0"/>
              </a:tabLst>
            </a:pPr>
            <a:r>
              <a:rPr b="0" lang="en-US" sz="4400" strike="noStrike" u="none">
                <a:solidFill>
                  <a:srgbClr val="000000"/>
                </a:solidFill>
                <a:effectLst/>
                <a:uFillTx/>
                <a:latin typeface="Arial"/>
              </a:rPr>
              <a:t>MR Imaging Modalities Used in Segmentation</a:t>
            </a:r>
            <a:endParaRPr b="0" lang="en-US" sz="4400" strike="noStrike" u="none">
              <a:solidFill>
                <a:srgbClr val="000000"/>
              </a:solidFill>
              <a:effectLst/>
              <a:uFillTx/>
              <a:latin typeface="Arial"/>
            </a:endParaRPr>
          </a:p>
        </p:txBody>
      </p:sp>
      <p:sp>
        <p:nvSpPr>
          <p:cNvPr id="103" name="sketchy line 5">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104" name=""/>
          <p:cNvSpPr/>
          <p:nvPr/>
        </p:nvSpPr>
        <p:spPr>
          <a:xfrm>
            <a:off x="685800" y="2057400"/>
            <a:ext cx="1096956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trike="noStrike" u="none">
                <a:solidFill>
                  <a:srgbClr val="000000"/>
                </a:solidFill>
                <a:effectLst/>
                <a:uFillTx/>
                <a:latin typeface="Arial"/>
              </a:rPr>
              <a:t>MRI segmentation is preformed by comparing the results of different MRI sequences (modalities)</a:t>
            </a:r>
            <a:endParaRPr b="0" lang="en-US" sz="2400" strike="noStrike" u="none">
              <a:solidFill>
                <a:srgbClr val="000000"/>
              </a:solidFill>
              <a:effectLst/>
              <a:uFillTx/>
              <a:latin typeface="Arial"/>
            </a:endParaRPr>
          </a:p>
        </p:txBody>
      </p:sp>
      <p:graphicFrame>
        <p:nvGraphicFramePr>
          <p:cNvPr id="105" name=""/>
          <p:cNvGraphicFramePr/>
          <p:nvPr/>
        </p:nvGraphicFramePr>
        <p:xfrm>
          <a:off x="768600" y="3227040"/>
          <a:ext cx="10265040" cy="2282040"/>
        </p:xfrm>
        <a:graphic>
          <a:graphicData uri="http://schemas.openxmlformats.org/drawingml/2006/table">
            <a:tbl>
              <a:tblPr/>
              <a:tblGrid>
                <a:gridCol w="2553840"/>
                <a:gridCol w="7711560"/>
              </a:tblGrid>
              <a:tr h="320040">
                <a:tc>
                  <a:txBody>
                    <a:bodyPr lIns="36000" rIns="36000" tIns="36000" bIns="36000" anchor="t">
                      <a:noAutofit/>
                    </a:bodyPr>
                    <a:p>
                      <a:pPr>
                        <a:lnSpc>
                          <a:spcPct val="100000"/>
                        </a:lnSpc>
                      </a:pPr>
                      <a:r>
                        <a:rPr b="1" lang="en-US" sz="1800" strike="noStrike" u="none">
                          <a:solidFill>
                            <a:srgbClr val="000000"/>
                          </a:solidFill>
                          <a:effectLst/>
                          <a:uFillTx/>
                          <a:latin typeface="Arial"/>
                        </a:rPr>
                        <a:t>SEQUENCE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1" lang="en-US" sz="1800" strike="noStrike" u="none">
                          <a:solidFill>
                            <a:srgbClr val="000000"/>
                          </a:solidFill>
                          <a:effectLst/>
                          <a:uFillTx/>
                          <a:latin typeface="Arial"/>
                        </a:rPr>
                        <a:t>KEY USE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nSpc>
                          <a:spcPct val="100000"/>
                        </a:lnSpc>
                      </a:pPr>
                      <a:r>
                        <a:rPr b="0" lang="en-US" sz="1800" strike="noStrike" u="none">
                          <a:solidFill>
                            <a:srgbClr val="000000"/>
                          </a:solidFill>
                          <a:effectLst/>
                          <a:uFillTx/>
                          <a:latin typeface="Arial"/>
                        </a:rPr>
                        <a:t>T1w (Native)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800" strike="noStrike" u="none">
                          <a:solidFill>
                            <a:srgbClr val="000000"/>
                          </a:solidFill>
                          <a:effectLst/>
                          <a:uFillTx/>
                          <a:latin typeface="Arial"/>
                        </a:rPr>
                        <a:t>Reveals the structure and composition of various tissue types in the brain</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nSpc>
                          <a:spcPct val="100000"/>
                        </a:lnSpc>
                      </a:pPr>
                      <a:r>
                        <a:rPr b="0" lang="en-US" sz="1800" strike="noStrike" u="none">
                          <a:solidFill>
                            <a:srgbClr val="000000"/>
                          </a:solidFill>
                          <a:effectLst/>
                          <a:uFillTx/>
                          <a:latin typeface="Arial"/>
                        </a:rPr>
                        <a:t>T1ce post-contrast</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800" strike="noStrike" u="none">
                          <a:solidFill>
                            <a:srgbClr val="000000"/>
                          </a:solidFill>
                          <a:effectLst/>
                          <a:uFillTx/>
                          <a:latin typeface="Arial"/>
                        </a:rPr>
                        <a:t>Similar to T1, but enhanced with a contrast agent which improves the visibility of abnormalities</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nSpc>
                          <a:spcPct val="100000"/>
                        </a:lnSpc>
                      </a:pPr>
                      <a:r>
                        <a:rPr b="0" lang="en-US" sz="1800" strike="noStrike" u="none">
                          <a:solidFill>
                            <a:srgbClr val="000000"/>
                          </a:solidFill>
                          <a:effectLst/>
                          <a:uFillTx/>
                          <a:latin typeface="Arial"/>
                        </a:rPr>
                        <a:t>T2w</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800" strike="noStrike" u="none">
                          <a:solidFill>
                            <a:srgbClr val="000000"/>
                          </a:solidFill>
                          <a:effectLst/>
                          <a:uFillTx/>
                          <a:latin typeface="Arial"/>
                        </a:rPr>
                        <a:t>This modality highlights the fluid content within brain tissue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nSpc>
                          <a:spcPct val="100000"/>
                        </a:lnSpc>
                      </a:pPr>
                      <a:r>
                        <a:rPr b="0" lang="en-US" sz="1800" strike="noStrike" u="none">
                          <a:solidFill>
                            <a:srgbClr val="000000"/>
                          </a:solidFill>
                          <a:effectLst/>
                          <a:uFillTx/>
                          <a:latin typeface="Arial"/>
                        </a:rPr>
                        <a:t>FLAIR (T2f)</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800" strike="noStrike" u="none">
                          <a:solidFill>
                            <a:srgbClr val="000000"/>
                          </a:solidFill>
                          <a:effectLst/>
                          <a:uFillTx/>
                          <a:latin typeface="Arial"/>
                        </a:rPr>
                        <a:t>Suppresses the fluid signals, making it easier to identify lesions (tumors) that may not be visible on T1 or T2 images</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pic>
        <p:nvPicPr>
          <p:cNvPr id="106" name="Picture 8"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7" name="Rectangle 5">
            <a:extLst>
              <a:ext uri="{C183D7F6-B498-43B3-948B-1728B52AA6E4}">
                <adec:decorative xmlns:adec="http://schemas.microsoft.com/office/drawing/2017/decorative" val="1"/>
              </a:ext>
            </a:extLst>
          </p:cNvPr>
          <p:cNvSpPr/>
          <p:nvPr/>
        </p:nvSpPr>
        <p:spPr>
          <a:xfrm>
            <a:off x="0" y="432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08" name="PlaceHolder 1"/>
          <p:cNvSpPr>
            <a:spLocks noGrp="1"/>
          </p:cNvSpPr>
          <p:nvPr>
            <p:ph type="title"/>
          </p:nvPr>
        </p:nvSpPr>
        <p:spPr>
          <a:xfrm>
            <a:off x="572400" y="238680"/>
            <a:ext cx="11012400" cy="135972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Examples of the Modalities and Mask</a:t>
            </a:r>
            <a:endParaRPr b="0" lang="en-US" sz="4400" strike="noStrike" u="none">
              <a:solidFill>
                <a:srgbClr val="000000"/>
              </a:solidFill>
              <a:effectLst/>
              <a:uFillTx/>
              <a:latin typeface="Arial"/>
            </a:endParaRPr>
          </a:p>
        </p:txBody>
      </p:sp>
      <p:sp>
        <p:nvSpPr>
          <p:cNvPr id="109" name="sketchy line 6">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sp>
        <p:nvSpPr>
          <p:cNvPr id="110" name=""/>
          <p:cNvSpPr/>
          <p:nvPr/>
        </p:nvSpPr>
        <p:spPr>
          <a:xfrm>
            <a:off x="685800" y="2057400"/>
            <a:ext cx="1096956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trike="noStrike" u="none">
                <a:solidFill>
                  <a:srgbClr val="000000"/>
                </a:solidFill>
                <a:effectLst/>
                <a:uFillTx/>
                <a:latin typeface="Arial"/>
              </a:rPr>
              <a:t>These images are of the same patient post-treatment for a </a:t>
            </a:r>
            <a:r>
              <a:rPr b="0" i="1" lang="en-US" sz="2400" strike="noStrike" u="none">
                <a:solidFill>
                  <a:srgbClr val="000000"/>
                </a:solidFill>
                <a:effectLst/>
                <a:uFillTx/>
                <a:latin typeface="Arial"/>
              </a:rPr>
              <a:t>glioma</a:t>
            </a:r>
            <a:r>
              <a:rPr b="0" lang="en-US" sz="2400" strike="noStrike" u="none">
                <a:solidFill>
                  <a:srgbClr val="000000"/>
                </a:solidFill>
                <a:effectLst/>
                <a:uFillTx/>
                <a:latin typeface="Arial"/>
              </a:rPr>
              <a:t> brain tumor. All of the modalities are summarized in the Mask (segmentation)</a:t>
            </a:r>
            <a:endParaRPr b="0" lang="en-US" sz="2400" strike="noStrike" u="none">
              <a:solidFill>
                <a:srgbClr val="000000"/>
              </a:solidFill>
              <a:effectLst/>
              <a:uFillTx/>
              <a:latin typeface="Arial"/>
            </a:endParaRPr>
          </a:p>
        </p:txBody>
      </p:sp>
      <p:pic>
        <p:nvPicPr>
          <p:cNvPr id="111" name="" descr=""/>
          <p:cNvPicPr/>
          <p:nvPr/>
        </p:nvPicPr>
        <p:blipFill>
          <a:blip r:embed="rId1"/>
          <a:stretch/>
        </p:blipFill>
        <p:spPr>
          <a:xfrm>
            <a:off x="371520" y="3200400"/>
            <a:ext cx="11285280" cy="2284200"/>
          </a:xfrm>
          <a:prstGeom prst="rect">
            <a:avLst/>
          </a:prstGeom>
          <a:noFill/>
          <a:ln w="0">
            <a:noFill/>
          </a:ln>
        </p:spPr>
      </p:pic>
      <p:pic>
        <p:nvPicPr>
          <p:cNvPr id="112" name="Picture 9" descr="A blue and white logo&#10;&#10;Description automatically generated"/>
          <p:cNvPicPr/>
          <p:nvPr/>
        </p:nvPicPr>
        <p:blipFill>
          <a:blip r:embed="rId2"/>
          <a:stretch/>
        </p:blipFill>
        <p:spPr>
          <a:xfrm>
            <a:off x="10199520" y="282600"/>
            <a:ext cx="1794240" cy="594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3" name="Rectangle 6">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14" name="PlaceHolder 1"/>
          <p:cNvSpPr>
            <a:spLocks noGrp="1"/>
          </p:cNvSpPr>
          <p:nvPr>
            <p:ph type="title"/>
          </p:nvPr>
        </p:nvSpPr>
        <p:spPr>
          <a:xfrm>
            <a:off x="572400" y="238680"/>
            <a:ext cx="11012400" cy="112716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Dataset and Data Preparation</a:t>
            </a:r>
            <a:endParaRPr b="0" lang="en-US" sz="4400" strike="noStrike" u="none">
              <a:solidFill>
                <a:srgbClr val="000000"/>
              </a:solidFill>
              <a:effectLst/>
              <a:uFillTx/>
              <a:latin typeface="Arial"/>
            </a:endParaRPr>
          </a:p>
        </p:txBody>
      </p:sp>
      <p:sp>
        <p:nvSpPr>
          <p:cNvPr id="115" name="sketchy line 7">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16" name="Picture 10"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17" name="PlaceHolder 11"/>
          <p:cNvSpPr/>
          <p:nvPr/>
        </p:nvSpPr>
        <p:spPr>
          <a:xfrm>
            <a:off x="6401520" y="1828800"/>
            <a:ext cx="5255640" cy="4341960"/>
          </a:xfrm>
          <a:prstGeom prst="rect">
            <a:avLst/>
          </a:prstGeom>
          <a:noFill/>
          <a:ln w="0">
            <a:noFill/>
          </a:ln>
        </p:spPr>
        <p:style>
          <a:lnRef idx="0"/>
          <a:fillRef idx="0"/>
          <a:effectRef idx="0"/>
          <a:fontRef idx="minor"/>
        </p:style>
        <p:txBody>
          <a:bodyPr lIns="90000" rIns="90000" tIns="45000" bIns="45000" anchor="t">
            <a:normAutofit fontScale="85000" lnSpcReduction="9999"/>
          </a:bodyPr>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The training data was obtained from the </a:t>
            </a:r>
            <a:r>
              <a:rPr b="1" lang="en-US" sz="2400" strike="noStrike" u="none">
                <a:solidFill>
                  <a:srgbClr val="000000"/>
                </a:solidFill>
                <a:effectLst/>
                <a:uFillTx/>
                <a:latin typeface="Arial"/>
              </a:rPr>
              <a:t>Medical Segmentation Decathlon (MSD) </a:t>
            </a:r>
            <a:r>
              <a:rPr b="0" lang="en-US" sz="2400" strike="noStrike" u="none">
                <a:solidFill>
                  <a:srgbClr val="000000"/>
                </a:solidFill>
                <a:effectLst/>
                <a:uFillTx/>
                <a:latin typeface="Arial"/>
              </a:rPr>
              <a:t>and is a subset of the BraTS 2016-2017 datasets</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This dataset is comprised of 4 structural modalities (T1, T1ce, T2, and T2-FLAIR)</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Consists of 750 multi-parametric MR brain scans from patients with glioblatoma (GBM) or lower-grade glioma (LGG)</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All samples were skull-stripped using various methods and normalized by the MSD organization</a:t>
            </a:r>
            <a:endParaRPr b="0" lang="en-US" sz="2400" strike="noStrike" u="none">
              <a:solidFill>
                <a:srgbClr val="000000"/>
              </a:solidFill>
              <a:effectLst/>
              <a:uFillTx/>
              <a:latin typeface="Arial"/>
            </a:endParaRPr>
          </a:p>
        </p:txBody>
      </p:sp>
      <p:pic>
        <p:nvPicPr>
          <p:cNvPr id="118" name="" descr=""/>
          <p:cNvPicPr/>
          <p:nvPr/>
        </p:nvPicPr>
        <p:blipFill>
          <a:blip r:embed="rId2"/>
          <a:stretch/>
        </p:blipFill>
        <p:spPr>
          <a:xfrm>
            <a:off x="549360" y="2017440"/>
            <a:ext cx="5621040" cy="41529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9" name="Rectangle 7">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20" name="PlaceHolder 1"/>
          <p:cNvSpPr>
            <a:spLocks noGrp="1"/>
          </p:cNvSpPr>
          <p:nvPr>
            <p:ph type="title"/>
          </p:nvPr>
        </p:nvSpPr>
        <p:spPr>
          <a:xfrm>
            <a:off x="572400" y="238680"/>
            <a:ext cx="11012400" cy="112716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Model Selection</a:t>
            </a:r>
            <a:endParaRPr b="0" lang="en-US" sz="4400" strike="noStrike" u="none">
              <a:solidFill>
                <a:srgbClr val="000000"/>
              </a:solidFill>
              <a:effectLst/>
              <a:uFillTx/>
              <a:latin typeface="Arial"/>
            </a:endParaRPr>
          </a:p>
        </p:txBody>
      </p:sp>
      <p:sp>
        <p:nvSpPr>
          <p:cNvPr id="121" name="sketchy line 8">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22" name="Picture 11"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23" name="PlaceHolder 4"/>
          <p:cNvSpPr/>
          <p:nvPr/>
        </p:nvSpPr>
        <p:spPr>
          <a:xfrm>
            <a:off x="457920" y="1970640"/>
            <a:ext cx="5484240" cy="4341960"/>
          </a:xfrm>
          <a:prstGeom prst="rect">
            <a:avLst/>
          </a:prstGeom>
          <a:noFill/>
          <a:ln w="0">
            <a:noFill/>
          </a:ln>
        </p:spPr>
        <p:style>
          <a:lnRef idx="0"/>
          <a:fillRef idx="0"/>
          <a:effectRef idx="0"/>
          <a:fontRef idx="minor"/>
        </p:style>
        <p:txBody>
          <a:bodyPr lIns="90000" rIns="90000" tIns="45000" bIns="45000" anchor="t">
            <a:normAutofit fontScale="85000" lnSpcReduction="19999"/>
          </a:bodyPr>
          <a:p>
            <a:pPr>
              <a:lnSpc>
                <a:spcPct val="100000"/>
              </a:lnSpc>
              <a:spcBef>
                <a:spcPts val="1417"/>
              </a:spcBef>
            </a:pPr>
            <a:r>
              <a:rPr b="0" lang="en-US" sz="2400" strike="noStrike" u="none">
                <a:solidFill>
                  <a:srgbClr val="000000"/>
                </a:solidFill>
                <a:effectLst/>
                <a:uFillTx/>
                <a:latin typeface="Arial"/>
              </a:rPr>
              <a:t>The Medical Open Network for Artificial Intelligence (MONAI)’s SegResNet model was chosen for the following reasons:</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It is a residual encoder/decoder CNN designed specifically for 2D/3D medical segmentation</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Uses less GPU resources than a transformer-style model making it a good fit for training with consumer grade GPUs</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Is a top performer in challenges like BraTS</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Is part of the vast MONAI ecosystem</a:t>
            </a:r>
            <a:endParaRPr b="0" lang="en-US" sz="2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Uses the u-net architecture as its core building block</a:t>
            </a:r>
            <a:endParaRPr b="0" lang="en-US" sz="2400" strike="noStrike" u="none">
              <a:solidFill>
                <a:srgbClr val="000000"/>
              </a:solidFill>
              <a:effectLst/>
              <a:uFillTx/>
              <a:latin typeface="Arial"/>
            </a:endParaRPr>
          </a:p>
        </p:txBody>
      </p:sp>
      <p:pic>
        <p:nvPicPr>
          <p:cNvPr id="124" name="" descr=""/>
          <p:cNvPicPr/>
          <p:nvPr/>
        </p:nvPicPr>
        <p:blipFill>
          <a:blip r:embed="rId2"/>
          <a:stretch/>
        </p:blipFill>
        <p:spPr>
          <a:xfrm>
            <a:off x="5942880" y="2591640"/>
            <a:ext cx="5617800" cy="24368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25" name="Rectangle 8">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26" name="PlaceHolder 1"/>
          <p:cNvSpPr>
            <a:spLocks noGrp="1"/>
          </p:cNvSpPr>
          <p:nvPr>
            <p:ph type="title"/>
          </p:nvPr>
        </p:nvSpPr>
        <p:spPr>
          <a:xfrm>
            <a:off x="572400" y="457200"/>
            <a:ext cx="11012400" cy="114228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Evaluating Training/Validation Performance</a:t>
            </a:r>
            <a:endParaRPr b="0" lang="en-US" sz="4400" strike="noStrike" u="none">
              <a:solidFill>
                <a:srgbClr val="000000"/>
              </a:solidFill>
              <a:effectLst/>
              <a:uFillTx/>
              <a:latin typeface="Arial"/>
            </a:endParaRPr>
          </a:p>
        </p:txBody>
      </p:sp>
      <p:sp>
        <p:nvSpPr>
          <p:cNvPr id="127" name="sketchy line 9">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28" name="Picture 12"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29" name=""/>
          <p:cNvSpPr/>
          <p:nvPr/>
        </p:nvSpPr>
        <p:spPr>
          <a:xfrm>
            <a:off x="685800" y="2057400"/>
            <a:ext cx="5028480" cy="38854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Evaluating the performance of segmentation models is slightly different from binary and multi-class CNNs</a:t>
            </a:r>
            <a:endParaRPr b="0" lang="en-US"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Validation loss per epoch is still used, but accuracy is replaced with validation mean dice score, which quantifies the average overlap between the model’s predicted segmentation masks and the ground-truth (human-annotated) labels across all classes and validation samples.</a:t>
            </a:r>
            <a:endParaRPr b="0" lang="en-US"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For this training run the average loss was 0.42 and mean Dice score 0.70</a:t>
            </a:r>
            <a:endParaRPr b="0" lang="en-US" sz="2000" strike="noStrike" u="none">
              <a:solidFill>
                <a:srgbClr val="000000"/>
              </a:solidFill>
              <a:effectLst/>
              <a:uFillTx/>
              <a:latin typeface="Arial"/>
            </a:endParaRPr>
          </a:p>
        </p:txBody>
      </p:sp>
      <p:pic>
        <p:nvPicPr>
          <p:cNvPr id="130" name="" descr=""/>
          <p:cNvPicPr/>
          <p:nvPr/>
        </p:nvPicPr>
        <p:blipFill>
          <a:blip r:embed="rId2"/>
          <a:stretch/>
        </p:blipFill>
        <p:spPr>
          <a:xfrm>
            <a:off x="5715000" y="2411280"/>
            <a:ext cx="6171480" cy="33030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31" name="Rectangle 11">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32" name="PlaceHolder 1"/>
          <p:cNvSpPr>
            <a:spLocks noGrp="1"/>
          </p:cNvSpPr>
          <p:nvPr>
            <p:ph type="title"/>
          </p:nvPr>
        </p:nvSpPr>
        <p:spPr>
          <a:xfrm>
            <a:off x="572400" y="457200"/>
            <a:ext cx="11012400" cy="114228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Mean Dice Score Per Region</a:t>
            </a:r>
            <a:endParaRPr b="0" lang="en-US" sz="4400" strike="noStrike" u="none">
              <a:solidFill>
                <a:srgbClr val="000000"/>
              </a:solidFill>
              <a:effectLst/>
              <a:uFillTx/>
              <a:latin typeface="Arial"/>
            </a:endParaRPr>
          </a:p>
        </p:txBody>
      </p:sp>
      <p:sp>
        <p:nvSpPr>
          <p:cNvPr id="133" name="sketchy line 12">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34" name="Picture 15"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35" name=""/>
          <p:cNvSpPr/>
          <p:nvPr/>
        </p:nvSpPr>
        <p:spPr>
          <a:xfrm>
            <a:off x="685800" y="2057400"/>
            <a:ext cx="10972080" cy="9396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Further evaluation can be conducted by examining the Mean Dice Score for the labels of interest.  The plots below illustrate the model performs best when segmenting the whole tumor (WT) and worse on enhancing tumor (ET).</a:t>
            </a:r>
            <a:endParaRPr b="0" lang="en-US" sz="2000" strike="noStrike" u="none">
              <a:solidFill>
                <a:srgbClr val="000000"/>
              </a:solidFill>
              <a:effectLst/>
              <a:uFillTx/>
              <a:latin typeface="Arial"/>
            </a:endParaRPr>
          </a:p>
        </p:txBody>
      </p:sp>
      <p:pic>
        <p:nvPicPr>
          <p:cNvPr id="136" name="" descr=""/>
          <p:cNvPicPr/>
          <p:nvPr/>
        </p:nvPicPr>
        <p:blipFill>
          <a:blip r:embed="rId2"/>
          <a:stretch/>
        </p:blipFill>
        <p:spPr>
          <a:xfrm>
            <a:off x="685800" y="2971800"/>
            <a:ext cx="10353960" cy="34506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37" name="Rectangle 12">
            <a:extLst>
              <a:ext uri="{C183D7F6-B498-43B3-948B-1728B52AA6E4}">
                <adec:decorative xmlns:adec="http://schemas.microsoft.com/office/drawing/2017/decorative" val="1"/>
              </a:ext>
            </a:extLst>
          </p:cNvPr>
          <p:cNvSpPr/>
          <p:nvPr/>
        </p:nvSpPr>
        <p:spPr>
          <a:xfrm>
            <a:off x="8640" y="540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38" name="PlaceHolder 1"/>
          <p:cNvSpPr>
            <a:spLocks noGrp="1"/>
          </p:cNvSpPr>
          <p:nvPr>
            <p:ph type="title"/>
          </p:nvPr>
        </p:nvSpPr>
        <p:spPr>
          <a:xfrm>
            <a:off x="572400" y="457200"/>
            <a:ext cx="11012400" cy="114228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Inference Results</a:t>
            </a:r>
            <a:endParaRPr b="0" lang="en-US" sz="4400" strike="noStrike" u="none">
              <a:solidFill>
                <a:srgbClr val="000000"/>
              </a:solidFill>
              <a:effectLst/>
              <a:uFillTx/>
              <a:latin typeface="Arial"/>
            </a:endParaRPr>
          </a:p>
        </p:txBody>
      </p:sp>
      <p:sp>
        <p:nvSpPr>
          <p:cNvPr id="139" name="sketchy line 13">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40" name="Picture 16"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41" name=""/>
          <p:cNvSpPr/>
          <p:nvPr/>
        </p:nvSpPr>
        <p:spPr>
          <a:xfrm>
            <a:off x="685800" y="1828800"/>
            <a:ext cx="10972080" cy="9396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An image was randomly selected from a post-treatment </a:t>
            </a:r>
            <a:r>
              <a:rPr b="0" i="1" lang="en-US" sz="2000" strike="noStrike" u="none">
                <a:solidFill>
                  <a:srgbClr val="000000"/>
                </a:solidFill>
                <a:effectLst/>
                <a:uFillTx/>
                <a:latin typeface="Arial"/>
              </a:rPr>
              <a:t>glioma</a:t>
            </a:r>
            <a:r>
              <a:rPr b="0" lang="en-US" sz="2000" strike="noStrike" u="none">
                <a:solidFill>
                  <a:srgbClr val="000000"/>
                </a:solidFill>
                <a:effectLst/>
                <a:uFillTx/>
                <a:latin typeface="Arial"/>
              </a:rPr>
              <a:t> patient dataset, the best training weights were loaded and inference was preformed on four separate channels.</a:t>
            </a:r>
            <a:endParaRPr b="0" lang="en-US"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000" strike="noStrike" u="none">
                <a:solidFill>
                  <a:srgbClr val="000000"/>
                </a:solidFill>
                <a:effectLst/>
                <a:uFillTx/>
                <a:latin typeface="Arial"/>
              </a:rPr>
              <a:t>Results were acceptable and more tuning will have to be completed</a:t>
            </a:r>
            <a:endParaRPr b="0" lang="en-US" sz="2000" strike="noStrike" u="none">
              <a:solidFill>
                <a:srgbClr val="000000"/>
              </a:solidFill>
              <a:effectLst/>
              <a:uFillTx/>
              <a:latin typeface="Arial"/>
            </a:endParaRPr>
          </a:p>
        </p:txBody>
      </p:sp>
      <p:pic>
        <p:nvPicPr>
          <p:cNvPr id="142" name="" descr=""/>
          <p:cNvPicPr/>
          <p:nvPr/>
        </p:nvPicPr>
        <p:blipFill>
          <a:blip r:embed="rId2"/>
          <a:stretch/>
        </p:blipFill>
        <p:spPr>
          <a:xfrm>
            <a:off x="1371600" y="4401000"/>
            <a:ext cx="8914680" cy="2227680"/>
          </a:xfrm>
          <a:prstGeom prst="rect">
            <a:avLst/>
          </a:prstGeom>
          <a:noFill/>
          <a:ln w="0">
            <a:noFill/>
          </a:ln>
        </p:spPr>
      </p:pic>
      <p:graphicFrame>
        <p:nvGraphicFramePr>
          <p:cNvPr id="143" name=""/>
          <p:cNvGraphicFramePr/>
          <p:nvPr/>
        </p:nvGraphicFramePr>
        <p:xfrm>
          <a:off x="4329720" y="2849400"/>
          <a:ext cx="3130200" cy="1641600"/>
        </p:xfrm>
        <a:graphic>
          <a:graphicData uri="http://schemas.openxmlformats.org/drawingml/2006/table">
            <a:tbl>
              <a:tblPr/>
              <a:tblGrid>
                <a:gridCol w="2167560"/>
                <a:gridCol w="963000"/>
              </a:tblGrid>
              <a:tr h="328320">
                <a:tc>
                  <a:txBody>
                    <a:bodyPr lIns="36000" rIns="36000" tIns="36000" bIns="36000" anchor="t">
                      <a:noAutofit/>
                    </a:bodyPr>
                    <a:p>
                      <a:pPr>
                        <a:lnSpc>
                          <a:spcPct val="100000"/>
                        </a:lnSpc>
                      </a:pPr>
                      <a:r>
                        <a:rPr b="1" lang="en-US" sz="1500" strike="noStrike" u="none">
                          <a:solidFill>
                            <a:srgbClr val="000000"/>
                          </a:solidFill>
                          <a:effectLst/>
                          <a:uFillTx/>
                          <a:latin typeface="Arial"/>
                        </a:rPr>
                        <a:t>METRIC</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1" lang="en-US" sz="1500" strike="noStrike" u="none">
                          <a:solidFill>
                            <a:srgbClr val="000000"/>
                          </a:solidFill>
                          <a:effectLst/>
                          <a:uFillTx/>
                          <a:latin typeface="Arial"/>
                        </a:rPr>
                        <a:t>VALUE</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rIns="36000" tIns="36000" bIns="36000" anchor="t">
                      <a:noAutofit/>
                    </a:bodyPr>
                    <a:p>
                      <a:pPr>
                        <a:lnSpc>
                          <a:spcPct val="100000"/>
                        </a:lnSpc>
                      </a:pPr>
                      <a:r>
                        <a:rPr b="0" lang="en-US" sz="1500" strike="noStrike" u="none">
                          <a:solidFill>
                            <a:srgbClr val="000000"/>
                          </a:solidFill>
                          <a:effectLst/>
                          <a:uFillTx/>
                          <a:latin typeface="Arial"/>
                        </a:rPr>
                        <a:t>Mean Dice Score</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500" strike="noStrike" u="none">
                          <a:solidFill>
                            <a:srgbClr val="000000"/>
                          </a:solidFill>
                          <a:effectLst/>
                          <a:uFillTx/>
                          <a:latin typeface="Arial"/>
                        </a:rPr>
                        <a:t>0.61</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rIns="36000" tIns="36000" bIns="36000" anchor="t">
                      <a:noAutofit/>
                    </a:bodyPr>
                    <a:p>
                      <a:pPr>
                        <a:lnSpc>
                          <a:spcPct val="100000"/>
                        </a:lnSpc>
                      </a:pPr>
                      <a:r>
                        <a:rPr b="0" lang="en-US" sz="1500" strike="noStrike" u="none">
                          <a:solidFill>
                            <a:srgbClr val="000000"/>
                          </a:solidFill>
                          <a:effectLst/>
                          <a:uFillTx/>
                          <a:latin typeface="Arial"/>
                        </a:rPr>
                        <a:t>TC mean Dice Score</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500" strike="noStrike" u="none">
                          <a:solidFill>
                            <a:srgbClr val="000000"/>
                          </a:solidFill>
                          <a:effectLst/>
                          <a:uFillTx/>
                          <a:latin typeface="Arial"/>
                        </a:rPr>
                        <a:t>0.65</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rIns="36000" tIns="36000" bIns="36000" anchor="t">
                      <a:noAutofit/>
                    </a:bodyPr>
                    <a:p>
                      <a:pPr>
                        <a:lnSpc>
                          <a:spcPct val="100000"/>
                        </a:lnSpc>
                      </a:pPr>
                      <a:r>
                        <a:rPr b="0" lang="en-US" sz="1500" strike="noStrike" u="none">
                          <a:solidFill>
                            <a:srgbClr val="000000"/>
                          </a:solidFill>
                          <a:effectLst/>
                          <a:uFillTx/>
                          <a:latin typeface="Arial"/>
                        </a:rPr>
                        <a:t>WT mean Dice Score</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500" strike="noStrike" u="none">
                          <a:solidFill>
                            <a:srgbClr val="000000"/>
                          </a:solidFill>
                          <a:effectLst/>
                          <a:uFillTx/>
                          <a:latin typeface="Arial"/>
                        </a:rPr>
                        <a:t>0.77</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28320">
                <a:tc>
                  <a:txBody>
                    <a:bodyPr lIns="36000" rIns="36000" tIns="36000" bIns="36000" anchor="t">
                      <a:noAutofit/>
                    </a:bodyPr>
                    <a:p>
                      <a:pPr>
                        <a:lnSpc>
                          <a:spcPct val="100000"/>
                        </a:lnSpc>
                      </a:pPr>
                      <a:r>
                        <a:rPr b="0" lang="en-US" sz="1500" strike="noStrike" u="none">
                          <a:solidFill>
                            <a:srgbClr val="000000"/>
                          </a:solidFill>
                          <a:effectLst/>
                          <a:uFillTx/>
                          <a:latin typeface="Arial"/>
                        </a:rPr>
                        <a:t>ET mean Dice Score</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b="0" lang="en-US" sz="1500" strike="noStrike" u="none">
                          <a:solidFill>
                            <a:srgbClr val="000000"/>
                          </a:solidFill>
                          <a:effectLst/>
                          <a:uFillTx/>
                          <a:latin typeface="Arial"/>
                        </a:rPr>
                        <a:t>0.42</a:t>
                      </a:r>
                      <a:endParaRPr b="0" lang="en-US" sz="15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44" name="Rectangle 14">
            <a:extLst>
              <a:ext uri="{C183D7F6-B498-43B3-948B-1728B52AA6E4}">
                <adec:decorative xmlns:adec="http://schemas.microsoft.com/office/drawing/2017/decorative" val="1"/>
              </a:ext>
            </a:extLst>
          </p:cNvPr>
          <p:cNvSpPr/>
          <p:nvPr/>
        </p:nvSpPr>
        <p:spPr>
          <a:xfrm>
            <a:off x="8640" y="540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45" name="PlaceHolder 1"/>
          <p:cNvSpPr>
            <a:spLocks noGrp="1"/>
          </p:cNvSpPr>
          <p:nvPr>
            <p:ph type="title"/>
          </p:nvPr>
        </p:nvSpPr>
        <p:spPr>
          <a:xfrm>
            <a:off x="572400" y="457200"/>
            <a:ext cx="11012400" cy="114228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Conclusions</a:t>
            </a:r>
            <a:endParaRPr b="0" lang="en-US" sz="4400" strike="noStrike" u="none">
              <a:solidFill>
                <a:srgbClr val="000000"/>
              </a:solidFill>
              <a:effectLst/>
              <a:uFillTx/>
              <a:latin typeface="Arial"/>
            </a:endParaRPr>
          </a:p>
        </p:txBody>
      </p:sp>
      <p:sp>
        <p:nvSpPr>
          <p:cNvPr id="146" name="sketchy line 14">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47" name="Picture 17"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48" name=""/>
          <p:cNvSpPr/>
          <p:nvPr/>
        </p:nvSpPr>
        <p:spPr>
          <a:xfrm>
            <a:off x="685800" y="2057400"/>
            <a:ext cx="10743480" cy="44643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200" strike="noStrike" u="none">
                <a:solidFill>
                  <a:srgbClr val="000000"/>
                </a:solidFill>
                <a:effectLst/>
                <a:uFillTx/>
                <a:latin typeface="Arial"/>
              </a:rPr>
              <a:t>Traditional CNN classifiers trained on pre-treatment brain tumor MR Images are not able to accurately classify post-treatment images and segmentation methods should be used</a:t>
            </a:r>
            <a:endParaRPr b="0" lang="en-US" sz="2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200" strike="noStrike" u="none">
                <a:solidFill>
                  <a:srgbClr val="000000"/>
                </a:solidFill>
                <a:effectLst/>
                <a:uFillTx/>
                <a:latin typeface="Arial"/>
              </a:rPr>
              <a:t>Performing segmentation on post-treatment MR Images can aid in identifying healthy brain tissue, core tumor residue, abnormalities to the blood-train barrier (BBB), and edema.</a:t>
            </a:r>
            <a:endParaRPr b="0" lang="en-US" sz="2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200" strike="noStrike" u="none">
                <a:solidFill>
                  <a:srgbClr val="000000"/>
                </a:solidFill>
                <a:effectLst/>
                <a:uFillTx/>
                <a:latin typeface="Arial"/>
              </a:rPr>
              <a:t>Modern segmentation models based on the U-Net architecture are the standard for segmentation of multi-modal MR data</a:t>
            </a:r>
            <a:endParaRPr b="0" lang="en-US" sz="2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200" strike="noStrike" u="none">
                <a:solidFill>
                  <a:srgbClr val="000000"/>
                </a:solidFill>
                <a:effectLst/>
                <a:uFillTx/>
                <a:latin typeface="Arial"/>
              </a:rPr>
              <a:t>International segmentation competitions have provided a platform for citizen data scientist, researchers, and organizations to create and learn segmentation techniques</a:t>
            </a:r>
            <a:endParaRPr b="0" lang="en-US" sz="2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2200" strike="noStrike" u="none">
                <a:solidFill>
                  <a:srgbClr val="000000"/>
                </a:solidFill>
                <a:effectLst/>
                <a:uFillTx/>
                <a:latin typeface="Arial"/>
              </a:rPr>
              <a:t>From these competitions there has been a handful of self-supervised learning models developed and made publicly available.  More research should be conducted in this domain </a:t>
            </a:r>
            <a:endParaRPr b="0" lang="en-US"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49" name="Rectangle 10">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50" name="PlaceHolder 1"/>
          <p:cNvSpPr>
            <a:spLocks noGrp="1"/>
          </p:cNvSpPr>
          <p:nvPr>
            <p:ph type="title"/>
          </p:nvPr>
        </p:nvSpPr>
        <p:spPr>
          <a:xfrm>
            <a:off x="572400" y="238680"/>
            <a:ext cx="11012400" cy="112716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Challenges Encountered</a:t>
            </a:r>
            <a:endParaRPr b="0" lang="en-US" sz="4400" strike="noStrike" u="none">
              <a:solidFill>
                <a:srgbClr val="000000"/>
              </a:solidFill>
              <a:effectLst/>
              <a:uFillTx/>
              <a:latin typeface="Arial"/>
            </a:endParaRPr>
          </a:p>
        </p:txBody>
      </p:sp>
      <p:sp>
        <p:nvSpPr>
          <p:cNvPr id="151" name="sketchy line 11">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52" name="Picture 14" descr="A blue and white logo&#10;&#10;Description automatically generated"/>
          <p:cNvPicPr/>
          <p:nvPr/>
        </p:nvPicPr>
        <p:blipFill>
          <a:blip r:embed="rId1"/>
          <a:stretch/>
        </p:blipFill>
        <p:spPr>
          <a:xfrm>
            <a:off x="10199520" y="282600"/>
            <a:ext cx="1794240" cy="594000"/>
          </a:xfrm>
          <a:prstGeom prst="rect">
            <a:avLst/>
          </a:prstGeom>
          <a:noFill/>
          <a:ln w="0">
            <a:noFill/>
          </a:ln>
        </p:spPr>
      </p:pic>
      <p:graphicFrame>
        <p:nvGraphicFramePr>
          <p:cNvPr id="153" name=""/>
          <p:cNvGraphicFramePr/>
          <p:nvPr/>
        </p:nvGraphicFramePr>
        <p:xfrm>
          <a:off x="658800" y="2328480"/>
          <a:ext cx="11106720" cy="2758320"/>
        </p:xfrm>
        <a:graphic>
          <a:graphicData uri="http://schemas.openxmlformats.org/drawingml/2006/table">
            <a:tbl>
              <a:tblPr/>
              <a:tblGrid>
                <a:gridCol w="5553000"/>
                <a:gridCol w="5554080"/>
              </a:tblGrid>
              <a:tr h="346320">
                <a:tc>
                  <a:txBody>
                    <a:bodyPr lIns="36000" rIns="36000" tIns="36000" bIns="36000" anchor="t">
                      <a:noAutofit/>
                    </a:bodyPr>
                    <a:p>
                      <a:pPr>
                        <a:lnSpc>
                          <a:spcPct val="100000"/>
                        </a:lnSpc>
                      </a:pPr>
                      <a:r>
                        <a:rPr b="1" lang="en-US" sz="1800" strike="noStrike" u="none">
                          <a:solidFill>
                            <a:srgbClr val="000000"/>
                          </a:solidFill>
                          <a:effectLst/>
                          <a:uFillTx/>
                          <a:latin typeface="Arial"/>
                        </a:rPr>
                        <a:t>Challenges</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c>
                  <a:txBody>
                    <a:bodyPr lIns="36000" rIns="36000" tIns="36000" bIns="36000" anchor="t">
                      <a:noAutofit/>
                    </a:bodyPr>
                    <a:p>
                      <a:pPr>
                        <a:lnSpc>
                          <a:spcPct val="100000"/>
                        </a:lnSpc>
                      </a:pPr>
                      <a:r>
                        <a:rPr b="1" lang="en-US" sz="1800" strike="noStrike" u="none">
                          <a:solidFill>
                            <a:srgbClr val="000000"/>
                          </a:solidFill>
                          <a:effectLst/>
                          <a:uFillTx/>
                          <a:latin typeface="Arial"/>
                        </a:rPr>
                        <a:t>Solutions</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r>
              <a:tr h="346320">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Attempted to use a pre-trained binary CNN classifier to classify post-treatment brain tumor MRI images.  Classifier could not determine if resection cavity was a tumor or not</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Further research indicated this approach was not feasible and many researchers used a encoder/decoder method to preform brain tumor segmentation.  Modified my study to follow this path</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r>
              <a:tr h="346320">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Using </a:t>
                      </a:r>
                      <a:r>
                        <a:rPr b="1" i="1" lang="en-US" sz="1800" strike="noStrike" u="none">
                          <a:solidFill>
                            <a:srgbClr val="000000"/>
                          </a:solidFill>
                          <a:effectLst/>
                          <a:uFillTx/>
                          <a:latin typeface="Arial"/>
                        </a:rPr>
                        <a:t>cutting-edge </a:t>
                      </a:r>
                      <a:r>
                        <a:rPr b="0" lang="en-US" sz="1800" strike="noStrike" u="none">
                          <a:solidFill>
                            <a:srgbClr val="000000"/>
                          </a:solidFill>
                          <a:effectLst/>
                          <a:uFillTx/>
                          <a:latin typeface="Arial"/>
                        </a:rPr>
                        <a:t>models proved to be problematic.  Use of pre-trained models from MONAI often broke existing Python Packages  </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Worked around broken packages by paying extra attention to versions.  Used different packages when possible</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r>
              <a:tr h="346320">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File path inconsistencies between datasets</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rPr>
                        <a:t>Created custom data loaders for each dataset</a:t>
                      </a:r>
                      <a:endParaRPr b="0" lang="en-US" sz="1800" strike="noStrike" u="none">
                        <a:solidFill>
                          <a:srgbClr val="000000"/>
                        </a:solidFill>
                        <a:effectLst/>
                        <a:uFillTx/>
                        <a:latin typeface="Arial"/>
                      </a:endParaRPr>
                    </a:p>
                  </a:txBody>
                  <a:tcPr anchor="t" marL="36000" marR="36000" marT="36000" marB="3600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54" name="Rectangle 9">
            <a:extLst>
              <a:ext uri="{C183D7F6-B498-43B3-948B-1728B52AA6E4}">
                <adec:decorative xmlns:adec="http://schemas.microsoft.com/office/drawing/2017/decorative" val="1"/>
              </a:ext>
            </a:extLst>
          </p:cNvPr>
          <p:cNvSpPr/>
          <p:nvPr/>
        </p:nvSpPr>
        <p:spPr>
          <a:xfrm>
            <a:off x="0" y="4680"/>
            <a:ext cx="12182760" cy="68518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trike="noStrike" u="none">
              <a:solidFill>
                <a:schemeClr val="lt1"/>
              </a:solidFill>
              <a:effectLst/>
              <a:uFillTx/>
              <a:latin typeface="Calibri"/>
            </a:endParaRPr>
          </a:p>
        </p:txBody>
      </p:sp>
      <p:sp>
        <p:nvSpPr>
          <p:cNvPr id="155" name="PlaceHolder 1"/>
          <p:cNvSpPr>
            <a:spLocks noGrp="1"/>
          </p:cNvSpPr>
          <p:nvPr>
            <p:ph type="title"/>
          </p:nvPr>
        </p:nvSpPr>
        <p:spPr>
          <a:xfrm>
            <a:off x="572400" y="238680"/>
            <a:ext cx="11012400" cy="1127160"/>
          </a:xfrm>
          <a:prstGeom prst="rect">
            <a:avLst/>
          </a:prstGeom>
          <a:noFill/>
          <a:ln w="0">
            <a:noFill/>
          </a:ln>
        </p:spPr>
        <p:txBody>
          <a:bodyPr lIns="91440" rIns="91440" tIns="45720" bIns="45720" anchor="b">
            <a:normAutofit/>
          </a:bodyPr>
          <a:p>
            <a:pPr indent="0" algn="ctr">
              <a:lnSpc>
                <a:spcPct val="100000"/>
              </a:lnSpc>
              <a:buNone/>
              <a:tabLst>
                <a:tab algn="l" pos="0"/>
              </a:tabLst>
            </a:pPr>
            <a:r>
              <a:rPr b="0" lang="en-US" sz="4400" strike="noStrike" u="none">
                <a:solidFill>
                  <a:srgbClr val="000000"/>
                </a:solidFill>
                <a:effectLst/>
                <a:uFillTx/>
                <a:latin typeface="Arial"/>
              </a:rPr>
              <a:t>Questions</a:t>
            </a:r>
            <a:endParaRPr b="0" lang="en-US" sz="4400" strike="noStrike" u="none">
              <a:solidFill>
                <a:srgbClr val="000000"/>
              </a:solidFill>
              <a:effectLst/>
              <a:uFillTx/>
              <a:latin typeface="Arial"/>
            </a:endParaRPr>
          </a:p>
        </p:txBody>
      </p:sp>
      <p:sp>
        <p:nvSpPr>
          <p:cNvPr id="156" name="sketchy line 10">
            <a:extLst>
              <a:ext uri="{C183D7F6-B498-43B3-948B-1728B52AA6E4}">
                <adec:decorative xmlns:adec="http://schemas.microsoft.com/office/drawing/2017/decorative" val="1"/>
              </a:ext>
            </a:extLst>
          </p:cNvPr>
          <p:cNvSpPr/>
          <p:nvPr/>
        </p:nvSpPr>
        <p:spPr>
          <a:xfrm>
            <a:off x="572400" y="1681560"/>
            <a:ext cx="10966680" cy="12240"/>
          </a:xfrm>
          <a:custGeom>
            <a:avLst/>
            <a:gdLst>
              <a:gd name="textAreaLeft" fmla="*/ 0 w 10966680"/>
              <a:gd name="textAreaRight" fmla="*/ 10972800 w 10966680"/>
              <a:gd name="textAreaTop" fmla="*/ 0 h 12240"/>
              <a:gd name="textAreaBottom" fmla="*/ 18360 h 12240"/>
              <a:gd name="GluePoint1X" fmla="*/ 0 w 10972800"/>
              <a:gd name="GluePoint1Y" fmla="*/ 0 h 18288"/>
              <a:gd name="GluePoint2X" fmla="*/ 356616 w 10972800"/>
              <a:gd name="GluePoint2Y" fmla="*/ 0 h 18288"/>
              <a:gd name="GluePoint3X" fmla="*/ 1042416 w 10972800"/>
              <a:gd name="GluePoint3Y" fmla="*/ 0 h 18288"/>
              <a:gd name="GluePoint4X" fmla="*/ 1947672 w 10972800"/>
              <a:gd name="GluePoint4Y" fmla="*/ 0 h 18288"/>
              <a:gd name="GluePoint5X" fmla="*/ 2633472 w 10972800"/>
              <a:gd name="GluePoint5Y" fmla="*/ 0 h 18288"/>
              <a:gd name="GluePoint6X" fmla="*/ 2990088 w 10972800"/>
              <a:gd name="GluePoint6Y" fmla="*/ 0 h 18288"/>
              <a:gd name="GluePoint7X" fmla="*/ 3456432 w 10972800"/>
              <a:gd name="GluePoint7Y" fmla="*/ 0 h 18288"/>
              <a:gd name="GluePoint8X" fmla="*/ 4361688 w 10972800"/>
              <a:gd name="GluePoint8Y" fmla="*/ 0 h 18288"/>
              <a:gd name="GluePoint9X" fmla="*/ 5266944 w 10972800"/>
              <a:gd name="GluePoint9Y" fmla="*/ 0 h 18288"/>
              <a:gd name="GluePoint10X" fmla="*/ 6172200 w 10972800"/>
              <a:gd name="GluePoint10Y" fmla="*/ 0 h 18288"/>
              <a:gd name="GluePoint11X" fmla="*/ 6528816 w 10972800"/>
              <a:gd name="GluePoint11Y" fmla="*/ 0 h 18288"/>
              <a:gd name="GluePoint12X" fmla="*/ 7214616 w 10972800"/>
              <a:gd name="GluePoint12Y" fmla="*/ 0 h 18288"/>
              <a:gd name="GluePoint13X" fmla="*/ 7790688 w 10972800"/>
              <a:gd name="GluePoint13Y" fmla="*/ 0 h 18288"/>
              <a:gd name="GluePoint14X" fmla="*/ 8147304 w 10972800"/>
              <a:gd name="GluePoint14Y" fmla="*/ 0 h 18288"/>
              <a:gd name="GluePoint15X" fmla="*/ 9052560 w 10972800"/>
              <a:gd name="GluePoint15Y" fmla="*/ 0 h 18288"/>
              <a:gd name="GluePoint16X" fmla="*/ 9409176 w 10972800"/>
              <a:gd name="GluePoint16Y" fmla="*/ 0 h 18288"/>
              <a:gd name="GluePoint17X" fmla="*/ 9765792 w 10972800"/>
              <a:gd name="GluePoint17Y" fmla="*/ 0 h 18288"/>
              <a:gd name="GluePoint18X" fmla="*/ 10341864 w 10972800"/>
              <a:gd name="GluePoint18Y" fmla="*/ 0 h 18288"/>
              <a:gd name="GluePoint19X" fmla="*/ 10972800 w 10972800"/>
              <a:gd name="GluePoint19Y" fmla="*/ 0 h 18288"/>
              <a:gd name="GluePoint20X" fmla="*/ 10972800 w 10972800"/>
              <a:gd name="GluePoint20Y" fmla="*/ 18288 h 18288"/>
              <a:gd name="GluePoint21X" fmla="*/ 10177272 w 10972800"/>
              <a:gd name="GluePoint21Y" fmla="*/ 18288 h 18288"/>
              <a:gd name="GluePoint22X" fmla="*/ 9820656 w 10972800"/>
              <a:gd name="GluePoint22Y" fmla="*/ 18288 h 18288"/>
              <a:gd name="GluePoint23X" fmla="*/ 9464040 w 10972800"/>
              <a:gd name="GluePoint23Y" fmla="*/ 18288 h 18288"/>
              <a:gd name="GluePoint24X" fmla="*/ 8778240 w 10972800"/>
              <a:gd name="GluePoint24Y" fmla="*/ 18288 h 18288"/>
              <a:gd name="GluePoint25X" fmla="*/ 8421624 w 10972800"/>
              <a:gd name="GluePoint25Y" fmla="*/ 18288 h 18288"/>
              <a:gd name="GluePoint26X" fmla="*/ 7735824 w 10972800"/>
              <a:gd name="GluePoint26Y" fmla="*/ 18288 h 18288"/>
              <a:gd name="GluePoint27X" fmla="*/ 6940296 w 10972800"/>
              <a:gd name="GluePoint27Y" fmla="*/ 18288 h 18288"/>
              <a:gd name="GluePoint28X" fmla="*/ 6254496 w 10972800"/>
              <a:gd name="GluePoint28Y" fmla="*/ 18288 h 18288"/>
              <a:gd name="GluePoint29X" fmla="*/ 5458968 w 10972800"/>
              <a:gd name="GluePoint29Y" fmla="*/ 18288 h 18288"/>
              <a:gd name="GluePoint30X" fmla="*/ 4663440 w 10972800"/>
              <a:gd name="GluePoint30Y" fmla="*/ 18288 h 18288"/>
              <a:gd name="GluePoint31X" fmla="*/ 4306824 w 10972800"/>
              <a:gd name="GluePoint31Y" fmla="*/ 18288 h 18288"/>
              <a:gd name="GluePoint32X" fmla="*/ 3840480 w 10972800"/>
              <a:gd name="GluePoint32Y" fmla="*/ 18288 h 18288"/>
              <a:gd name="GluePoint33X" fmla="*/ 3264408 w 10972800"/>
              <a:gd name="GluePoint33Y" fmla="*/ 18288 h 18288"/>
              <a:gd name="GluePoint34X" fmla="*/ 2578608 w 10972800"/>
              <a:gd name="GluePoint34Y" fmla="*/ 18288 h 18288"/>
              <a:gd name="GluePoint35X" fmla="*/ 1673352 w 10972800"/>
              <a:gd name="GluePoint35Y" fmla="*/ 18288 h 18288"/>
              <a:gd name="GluePoint36X" fmla="*/ 877824 w 10972800"/>
              <a:gd name="GluePoint36Y" fmla="*/ 18288 h 18288"/>
              <a:gd name="GluePoint37X" fmla="*/ 0 w 10972800"/>
              <a:gd name="GluePoint37Y" fmla="*/ 18288 h 18288"/>
              <a:gd name="GluePoint38X" fmla="*/ 0 w 10972800"/>
              <a:gd name="GluePoint38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chemeClr val="accent2">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nSpc>
                <a:spcPct val="100000"/>
              </a:lnSpc>
            </a:pPr>
            <a:endParaRPr b="0" lang="en-US" sz="1800" strike="noStrike" u="none">
              <a:solidFill>
                <a:schemeClr val="lt1"/>
              </a:solidFill>
              <a:effectLst/>
              <a:uFillTx/>
              <a:latin typeface="Calibri"/>
            </a:endParaRPr>
          </a:p>
        </p:txBody>
      </p:sp>
      <p:pic>
        <p:nvPicPr>
          <p:cNvPr id="157" name="Picture 13" descr="A blue and white logo&#10;&#10;Description automatically generated"/>
          <p:cNvPicPr/>
          <p:nvPr/>
        </p:nvPicPr>
        <p:blipFill>
          <a:blip r:embed="rId1"/>
          <a:stretch/>
        </p:blipFill>
        <p:spPr>
          <a:xfrm>
            <a:off x="10199520" y="282600"/>
            <a:ext cx="1794240" cy="594000"/>
          </a:xfrm>
          <a:prstGeom prst="rect">
            <a:avLst/>
          </a:prstGeom>
          <a:noFill/>
          <a:ln w="0">
            <a:noFill/>
          </a:ln>
        </p:spPr>
      </p:pic>
      <p:sp>
        <p:nvSpPr>
          <p:cNvPr id="158" name=""/>
          <p:cNvSpPr/>
          <p:nvPr/>
        </p:nvSpPr>
        <p:spPr>
          <a:xfrm>
            <a:off x="5257800" y="2971800"/>
            <a:ext cx="1370880" cy="14522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9600" strike="noStrike" u="none">
                <a:solidFill>
                  <a:srgbClr val="000000"/>
                </a:solidFill>
                <a:effectLst/>
                <a:uFillTx/>
                <a:latin typeface="Arial"/>
              </a:rPr>
              <a:t>?</a:t>
            </a:r>
            <a:endParaRPr b="0" lang="en-US" sz="9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2298</TotalTime>
  <Application>LibreOffice/25.8.3.2$Linux_X86_64 LibreOffice_project/580$Build-2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2024-01-19T13:58:44Z</dcterms:created>
  <dc:creator/>
  <dc:description/>
  <dc:language>en-US</dc:language>
  <cp:lastModifiedBy/>
  <cp:lastPrinted>2026-03-04T05:57:42Z</cp:lastPrinted>
  <dcterms:modified xsi:type="dcterms:W3CDTF">2026-03-04T16:46:41Z</dcterms:modified>
  <cp:revision>325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vt:i4>
  </property>
</Properties>
</file>