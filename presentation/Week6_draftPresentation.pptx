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1AB9F6-849F-427B-80FD-B5A937FC6C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268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2680" cy="36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24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240" cy="36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2F85AD-0F49-4EAB-8CB0-A885F42B35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B4A074-3FCE-4985-9F9B-F9967D98AFF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8F4C1B-E3E1-4347-B572-42F0386D43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4F8973-C203-4488-8A6A-53239125D1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02B383-5E76-4A3B-BC19-F15B5010B7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9BF9F5-F2C0-4D5B-A12A-7F674F0379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0A5637-B837-49F6-B932-9704DBD2BD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040" cy="58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200" cy="58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4DCA7C-042A-4ABB-BC83-7A4356A6CCD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A9B8C0-1A9D-4D3E-92BB-15905C81A6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560" cy="28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56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D55155-8DA3-4FFE-B425-69BBB3B082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43000"/>
            <a:ext cx="9138960" cy="22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Post-Treatment Brain Tumor Segmentation using MONAI SegResNet Model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4221360"/>
            <a:ext cx="9138960" cy="14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Author: Wiley Winters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Date: 2026-02-25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Class: MSDS 692 – Data Science Practicum 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3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160" y="28224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90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Introduction and Problem Statement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ketchy lin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914400" y="2057400"/>
            <a:ext cx="102841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Many studies have been conducted on diagnosing brain tumors using various methods.  Not many have been conducted on post-treatment follow up images.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likelihood of tumor regrowth increases significantly if it is not completely removed; therefore, accurately determining if a tumor has been completely removed is critical for developing the rest of the patient’s treatment plan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study will train a MONAI SegResNet model using datasets from the BraTS (Brain Tumor Segmentation) challenge sponsored by the Center for Biomedical Image Computing and Analytics.  After training the model will be used on a post-treatment dataset to preform segmentation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9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Background Information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4720" cy="29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 this part of the presentation I will provide background information on the following: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What is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Examples of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Example of how segmentation can identify core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Information about the different modalities used in MR images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9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What is Segmentation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ketchy lin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472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When segmentation is applied to a brain tumor MR Image it identifies the boundaries of the tumor regions within the brain scan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These boundaries are divided into masks and assigned a label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0 – normal brain tissue (non-tumor/background)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1 – necrotic/non-enhancing tumor core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2 – edema (ED)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3 – is not used to avoid confusion with binary encoders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4 – enhancing tumor (ET)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4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9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What Segmentation Provides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ketchy lin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472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Segmentation provides the following: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Location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Identifies exact location of the brain tumor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Size and Shape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Measures the tumor’s dimensions and form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Heterogeneity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Reveals different components within the tumor (e.g. solid tissue, necrotic areas)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Surrounding Tissue Involvement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Shows how the tumor interacts with adjacent brain structures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Cross-Modality Comparison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Provides a comprehensive view by comparing different imaging modalities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5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Visualization of Brain Tumor Segmentation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5256720" cy="388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Raw visualization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regions are color coded for easy of interpretation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Label 0 (normal) is the largest region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Tumor is identified in blue and yellow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Green is edema (swelling)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172200" y="2039400"/>
            <a:ext cx="4836600" cy="390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6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Brain Tumor Segmentation by Label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ketchy lin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"/>
          <p:cNvSpPr/>
          <p:nvPr/>
        </p:nvSpPr>
        <p:spPr>
          <a:xfrm>
            <a:off x="685800" y="2057400"/>
            <a:ext cx="109706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 separating the labels, it becomes easier to identify the tumor’s core and edema (swelling)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the example below, I have separated out the Labels into their own plots.  This makes it easier to identify the residual brain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red box outlines the residual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418760" y="4343400"/>
            <a:ext cx="8836560" cy="180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7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 Imaging Modalities Used in Segmentation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ketchy lin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2057400"/>
            <a:ext cx="1097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MRI segmentation is preformed by comparing the results of different MRI sequences (modalities)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768600" y="3227040"/>
          <a:ext cx="10265040" cy="2282040"/>
        </p:xfrm>
        <a:graphic>
          <a:graphicData uri="http://schemas.openxmlformats.org/drawingml/2006/table">
            <a:tbl>
              <a:tblPr/>
              <a:tblGrid>
                <a:gridCol w="2553840"/>
                <a:gridCol w="7711560"/>
              </a:tblGrid>
              <a:tr h="3200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SEQUENCE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 USE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T1 (Native)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Reveals the structure and composition of various tissue types in the brain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T1ce post-contrast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Similar to T1, but enhanced with a contrast agent which improves the visibility of abnormalities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This modality highlights the fluid content within brain tissue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FLAIR (T2F)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Suppresses the fluid signals, making it easier to identify lesions (tumors) that may not be visible on T1 or T2 images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9" name="Picture 8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32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Examples of the Modalities and Mask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ketchy lin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2057400"/>
            <a:ext cx="1097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images are of the same patient post-treatment for a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glioma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brain tumor. All of the modalities are summarized in the Mask (segmentation)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371520" y="3200400"/>
            <a:ext cx="1128636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9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and Data Preparation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ketchy l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10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1"/>
          <p:cNvSpPr/>
          <p:nvPr/>
        </p:nvSpPr>
        <p:spPr>
          <a:xfrm>
            <a:off x="6401520" y="1828800"/>
            <a:ext cx="525672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MRI NifTI volumes used for training are from the BraTS2021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dataset is comprised of 4 structural modalities (T1, T1c, T2, and T2-FLAIR)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BraTS dataset is a collection of MRI scans of 1,480 patients acquired from multiple institutions under standard clinical conditions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are already prepared for training or inference.  Images are loaded from the NifTI files and divided into four channels (i.e. T1, T1c, T2, T2F)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549360" y="2017440"/>
            <a:ext cx="5622120" cy="415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 Selection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ketchy lin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11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4"/>
          <p:cNvSpPr/>
          <p:nvPr/>
        </p:nvSpPr>
        <p:spPr>
          <a:xfrm>
            <a:off x="457920" y="1970640"/>
            <a:ext cx="548532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Medical Open Network for Artificial Intelligence (MONAI)’s SegResNet model was chosen for the following reasons: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is a residual encoder/decoder CNN designed specifically for 2D/3D medical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Uses less GPU resources than a transformer-style model making it a good fit for training with consumer grade GPUs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 a top performer in challenges like BraTS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 part of the vast MONAI ecosystem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6400800" y="2971800"/>
            <a:ext cx="5257440" cy="194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Challenges Encountered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ketchy lin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12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"/>
          <p:cNvGraphicFramePr/>
          <p:nvPr/>
        </p:nvGraphicFramePr>
        <p:xfrm>
          <a:off x="658800" y="2328480"/>
          <a:ext cx="11106720" cy="2758320"/>
        </p:xfrm>
        <a:graphic>
          <a:graphicData uri="http://schemas.openxmlformats.org/drawingml/2006/table">
            <a:tbl>
              <a:tblPr/>
              <a:tblGrid>
                <a:gridCol w="5553000"/>
                <a:gridCol w="555408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Challenges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Solutions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Attempted to use a pre-trained binary CNN classifier to classify post-treatment brain tumor MRI images.  Classifier could not determine if resection cavity was a tumor or not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Further research indicated this approach was not feasible and many researchers used a encoder/decoder method to preform brain tumor segmentation.  Modified my study to follow this path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Using </a:t>
                      </a:r>
                      <a:r>
                        <a:rPr b="1" i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cutting-edge 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models proved to be problematic.  Use of pre-trained models from MONAI often broke existing Python Packages 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Worked around broken packages by paying extra attention to versions.  Used different packages when possible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File path inconsistencies between datasets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Created custom data loaders for each dataset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3840" cy="685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480" cy="11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Future Steps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ketchy lin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7760" cy="13320"/>
          </a:xfrm>
          <a:custGeom>
            <a:avLst/>
            <a:gdLst>
              <a:gd name="textAreaLeft" fmla="*/ 0 w 10967760"/>
              <a:gd name="textAreaRight" fmla="*/ 10972800 w 10967760"/>
              <a:gd name="textAreaTop" fmla="*/ 0 h 13320"/>
              <a:gd name="textAreaBottom" fmla="*/ 18360 h 1332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13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320" cy="59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1600200" y="2743200"/>
            <a:ext cx="868644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Continue work on training a MONAI SegResNet model on BraTS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After successfully training the model, perform inference on post-treatment Glioma brain tumor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Document findings and complete research paper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1566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2024-01-19T13:58:44Z</dcterms:created>
  <dc:creator/>
  <dc:description/>
  <dc:language>en-US</dc:language>
  <cp:lastModifiedBy/>
  <dcterms:modified xsi:type="dcterms:W3CDTF">2026-02-28T14:20:21Z</dcterms:modified>
  <cp:revision>309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